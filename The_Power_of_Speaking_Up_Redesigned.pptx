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1686674-6380-849c-7fd5-7a9b28d20269}">
          <p14:sldIdLst>
            <p14:sldId id="256"/>
          </p14:sldIdLst>
        </p14:section>
        <p14:section name="Engage" id="{f56f5bc4-5077-7625-3cb3-93e43c2a52ab}">
          <p14:sldIdLst>
            <p14:sldId id="257"/>
            <p14:sldId id="258"/>
          </p14:sldIdLst>
        </p14:section>
        <p14:section name="Framework" id="{92d1a943-776b-8ed1-a994-ba3286687d8c}">
          <p14:sldIdLst>
            <p14:sldId id="259"/>
            <p14:sldId id="260"/>
          </p14:sldIdLst>
        </p14:section>
        <p14:section name="Practice" id="{0b940b58-b9f3-8966-ddb0-064f3cd6e21c}">
          <p14:sldIdLst>
            <p14:sldId id="261"/>
            <p14:sldId id="262"/>
          </p14:sldIdLst>
        </p14:section>
        <p14:section name="Culture" id="{22fde4b1-241b-35c5-7fd3-909757a26bc7}">
          <p14:sldIdLst>
            <p14:sldId id="263"/>
            <p14:sldId id="264"/>
          </p14:sldIdLst>
        </p14:section>
        <p14:section name="Close" id="{6259e019-3976-7e6a-f125-df6c0fe2d624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Ask the audience to think of a time when they noticed a risk but hesitated to speak. Do not ask for names or sensitive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after the two options. Invite 2–3 responses. Emphasise that speaking up is about improving decisions, not proving someone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 show of hands or a quick chat response. Let the room answer before presenting the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behaviours. Explain that courage without evidence can sound like opinion; evidence without respect can sound like attack.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is fictional/composite. Keep focus on the observable data freshness signal and the value of a short validation pause.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the FACT structure slowly. Invite participants to repeat or adapt the wording to their own work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one pair aloud and ask which version is more likely to be heard. Clarify that respectful language should not dilute urgency when risk is serious.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speaking up is a two-way responsibility: individuals raise concerns and leaders respond constructively.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Quotation note: The first quotation is biblical. The courage quotation is commonly attributed to Ambrose Redmoon, but attribution is disputed; it is labeled accordingly.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practical commitment: each person chooses one phrase they can use in their next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5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04672"/>
            <a:ext cx="1008857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536192"/>
            <a:ext cx="1008857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chemeClr val="accent4"/>
                </a:solidFill>
              </a:rPr>
              <a:t>SPEAKING UP WITH INTEGRITY  •  POST-ASSESSMENT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5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04672"/>
            <a:ext cx="1008857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536192"/>
            <a:ext cx="1008857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chemeClr val="accent5"/>
                </a:solidFill>
              </a:rPr>
              <a:t>SPEAKING UP WITH INTEGRITY  •  POST-ASSESSMENT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960120"/>
            <a:ext cx="658368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417320"/>
            <a:ext cx="65836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611880"/>
            <a:ext cx="6583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5" name="Text 0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chemeClr val="accent5"/>
                </a:solidFill>
              </a:rPr>
              <a:t>SPEAKING UP WITH INTEGRITY  •  POST-ASSESSMENT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9601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CAPGEMINI  |  POST-ASSESSMENT PRESENTATION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41732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Power of</a:t>
            </a:r>
            <a:endParaRPr lang="en-US" sz="6000" dirty="0"/>
          </a:p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Speaking Up</a:t>
            </a: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6118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Challenging group decisions with integrity</a:t>
            </a:r>
            <a:endParaRPr lang="en-US" sz="2400" dirty="0"/>
          </a:p>
        </p:txBody>
      </p:sp>
      <p:sp>
        <p:nvSpPr>
          <p:cNvPr id="5" name="Tagline"/>
          <p:cNvSpPr txBox="1"/>
          <p:nvPr/>
        </p:nvSpPr>
        <p:spPr>
          <a:xfrm>
            <a:off x="731520" y="42519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How to disagree respectfully, protect outcomes,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and build trust when it matters most.</a:t>
            </a:r>
            <a:endParaRPr lang="en-US" sz="1700" dirty="0"/>
          </a:p>
        </p:txBody>
      </p:sp>
      <p:sp>
        <p:nvSpPr>
          <p:cNvPr id="6" name="Presenter dot"/>
          <p:cNvSpPr/>
          <p:nvPr/>
        </p:nvSpPr>
        <p:spPr>
          <a:xfrm>
            <a:off x="731520" y="5358384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esenter"/>
          <p:cNvSpPr txBox="1"/>
          <p:nvPr/>
        </p:nvSpPr>
        <p:spPr>
          <a:xfrm>
            <a:off x="1005840" y="523951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Presented by-Maithili Debilal Thakre</a:t>
            </a:r>
            <a:endParaRPr lang="en-US" sz="1600" dirty="0"/>
          </a:p>
        </p:txBody>
      </p:sp>
      <p:sp>
        <p:nvSpPr>
          <p:cNvPr id="8" name="Emblem ring"/>
          <p:cNvSpPr/>
          <p:nvPr/>
        </p:nvSpPr>
        <p:spPr>
          <a:xfrm>
            <a:off x="7269480" y="777240"/>
            <a:ext cx="4572000" cy="4572000"/>
          </a:xfrm>
          <a:prstGeom prst="ellipse">
            <a:avLst/>
          </a:prstGeom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9" name="Emblem ring"/>
          <p:cNvSpPr/>
          <p:nvPr/>
        </p:nvSpPr>
        <p:spPr>
          <a:xfrm>
            <a:off x="7772400" y="1280160"/>
            <a:ext cx="3566160" cy="3566160"/>
          </a:xfrm>
          <a:prstGeom prst="ellipse">
            <a:avLst/>
          </a:prstGeom>
          <a:ln w="15875">
            <a:solidFill>
              <a:schemeClr val="accent1">
                <a:alpha val="75000"/>
              </a:schemeClr>
            </a:solidFill>
            <a:prstDash val="solid"/>
          </a:ln>
        </p:spPr>
      </p:sp>
      <p:sp>
        <p:nvSpPr>
          <p:cNvPr id="10" name="Emblem core"/>
          <p:cNvSpPr/>
          <p:nvPr/>
        </p:nvSpPr>
        <p:spPr>
          <a:xfrm>
            <a:off x="8321040" y="1828800"/>
            <a:ext cx="2468880" cy="24688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Emblem icon" descr="Micro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2514600"/>
            <a:ext cx="1097280" cy="1097280"/>
          </a:xfrm>
          <a:prstGeom prst="rect">
            <a:avLst/>
          </a:prstGeom>
        </p:spPr>
      </p:pic>
      <p:sp>
        <p:nvSpPr>
          <p:cNvPr id="12" name="Emblem dot"/>
          <p:cNvSpPr/>
          <p:nvPr/>
        </p:nvSpPr>
        <p:spPr>
          <a:xfrm>
            <a:off x="10763807" y="17591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Emblem dot small"/>
          <p:cNvSpPr/>
          <p:nvPr/>
        </p:nvSpPr>
        <p:spPr>
          <a:xfrm>
            <a:off x="7778358" y="4515909"/>
            <a:ext cx="182880" cy="1828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4" name="Page label"/>
          <p:cNvSpPr txBox="1"/>
          <p:nvPr/>
        </p:nvSpPr>
        <p:spPr>
          <a:xfrm>
            <a:off x="10908792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chemeClr val="accent1"/>
                </a:solidFill>
              </a:rPr>
              <a:t>01 / THE HOOK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04672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Would you speak up if the room had already agreed?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536192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Imagine the decision is popular, the deadline is close, and you see a risk no one has mentioned.</a:t>
            </a:r>
            <a:endParaRPr lang="en-US" sz="1600" dirty="0"/>
          </a:p>
        </p:txBody>
      </p:sp>
      <p:sp>
        <p:nvSpPr>
          <p:cNvPr id="5" name="Moment card"/>
          <p:cNvSpPr/>
          <p:nvPr/>
        </p:nvSpPr>
        <p:spPr>
          <a:xfrm>
            <a:off x="640080" y="2240280"/>
            <a:ext cx="6309360" cy="3749040"/>
          </a:xfrm>
          <a:prstGeom prst="roundRect">
            <a:avLst>
              <a:gd name="adj" fmla="val 2927"/>
            </a:avLst>
          </a:prstGeom>
          <a:solidFill>
            <a:srgbClr val="0F1E3D"/>
          </a:solidFill>
          <a:ln/>
          <a:effectLst>
            <a:outerShdw sx="100000" sy="100000" kx="0" ky="0" algn="bl" rotWithShape="0" blurRad="127000" dist="38100" dir="5400000">
              <a:srgbClr val="0F1E3D">
                <a:alpha val="14000"/>
              </a:srgbClr>
            </a:outerShdw>
          </a:effectLst>
        </p:spPr>
      </p:sp>
      <p:sp>
        <p:nvSpPr>
          <p:cNvPr id="6" name="Moment label"/>
          <p:cNvSpPr txBox="1"/>
          <p:nvPr/>
        </p:nvSpPr>
        <p:spPr>
          <a:xfrm>
            <a:off x="1051560" y="2560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chemeClr val="accent1"/>
                </a:solidFill>
              </a:rPr>
              <a:t>THE MOMENT OF CHOICE</a:t>
            </a:r>
            <a:endParaRPr lang="en-US" sz="1200" dirty="0"/>
          </a:p>
        </p:txBody>
      </p:sp>
      <p:pic>
        <p:nvPicPr>
          <p:cNvPr id="7" name="Quote icon" descr="Quo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063240"/>
            <a:ext cx="411480" cy="411480"/>
          </a:xfrm>
          <a:prstGeom prst="rect">
            <a:avLst/>
          </a:prstGeom>
        </p:spPr>
      </p:pic>
      <p:sp>
        <p:nvSpPr>
          <p:cNvPr id="8" name="Moment quote"/>
          <p:cNvSpPr txBox="1"/>
          <p:nvPr/>
        </p:nvSpPr>
        <p:spPr>
          <a:xfrm>
            <a:off x="1051560" y="361188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don’t want to slow us down…</a:t>
            </a:r>
            <a:endParaRPr lang="en-US" sz="2800" dirty="0"/>
          </a:p>
          <a:p>
            <a:pPr indent="0" marL="0">
              <a:buNone/>
            </a:pPr>
            <a:r>
              <a:rPr lang="en-US" sz="28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what if we’re missing something?”</a:t>
            </a:r>
            <a:endParaRPr lang="en-US" sz="2800" dirty="0"/>
          </a:p>
        </p:txBody>
      </p:sp>
      <p:sp>
        <p:nvSpPr>
          <p:cNvPr id="9" name="Moment caption"/>
          <p:cNvSpPr txBox="1"/>
          <p:nvPr/>
        </p:nvSpPr>
        <p:spPr>
          <a:xfrm>
            <a:off x="1051560" y="53035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Silence feels easier. Speaking up may be safer.</a:t>
            </a:r>
            <a:endParaRPr lang="en-US" sz="1600" dirty="0"/>
          </a:p>
        </p:txBody>
      </p:sp>
      <p:sp>
        <p:nvSpPr>
          <p:cNvPr id="10" name="Option card 1"/>
          <p:cNvSpPr/>
          <p:nvPr/>
        </p:nvSpPr>
        <p:spPr>
          <a:xfrm>
            <a:off x="7269480" y="2240280"/>
            <a:ext cx="427939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F1E3D">
                <a:alpha val="14000"/>
              </a:srgbClr>
            </a:outerShdw>
          </a:effectLst>
        </p:spPr>
      </p:sp>
      <p:sp>
        <p:nvSpPr>
          <p:cNvPr id="11" name="Option 1 circle"/>
          <p:cNvSpPr/>
          <p:nvPr/>
        </p:nvSpPr>
        <p:spPr>
          <a:xfrm>
            <a:off x="7589520" y="2606040"/>
            <a:ext cx="731520" cy="731520"/>
          </a:xfrm>
          <a:prstGeom prst="ellipse">
            <a:avLst/>
          </a:prstGeom>
          <a:solidFill>
            <a:srgbClr val="5E6A82"/>
          </a:solidFill>
          <a:ln/>
        </p:spPr>
      </p:sp>
      <p:pic>
        <p:nvPicPr>
          <p:cNvPr id="12" name="Option 1 icon" descr="Option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030" y="2803550"/>
            <a:ext cx="336499" cy="336499"/>
          </a:xfrm>
          <a:prstGeom prst="rect">
            <a:avLst/>
          </a:prstGeom>
        </p:spPr>
      </p:pic>
      <p:sp>
        <p:nvSpPr>
          <p:cNvPr id="13" name="Option 1 title"/>
          <p:cNvSpPr txBox="1"/>
          <p:nvPr/>
        </p:nvSpPr>
        <p:spPr>
          <a:xfrm>
            <a:off x="8549640" y="2514600"/>
            <a:ext cx="2770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 — Stay silent</a:t>
            </a:r>
            <a:endParaRPr lang="en-US" sz="1700" dirty="0"/>
          </a:p>
        </p:txBody>
      </p:sp>
      <p:sp>
        <p:nvSpPr>
          <p:cNvPr id="14" name="Option 1 text"/>
          <p:cNvSpPr txBox="1"/>
          <p:nvPr/>
        </p:nvSpPr>
        <p:spPr>
          <a:xfrm>
            <a:off x="8549640" y="3200400"/>
            <a:ext cx="2770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Avoid tension now; risk a bigger problem later.</a:t>
            </a:r>
            <a:endParaRPr lang="en-US" sz="1400" dirty="0"/>
          </a:p>
        </p:txBody>
      </p:sp>
      <p:sp>
        <p:nvSpPr>
          <p:cNvPr id="15" name="Option card 2"/>
          <p:cNvSpPr/>
          <p:nvPr/>
        </p:nvSpPr>
        <p:spPr>
          <a:xfrm>
            <a:off x="7269480" y="4251960"/>
            <a:ext cx="427939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F1E3D">
                <a:alpha val="14000"/>
              </a:srgbClr>
            </a:outerShdw>
          </a:effectLst>
        </p:spPr>
      </p:sp>
      <p:sp>
        <p:nvSpPr>
          <p:cNvPr id="16" name="Option 2 circle"/>
          <p:cNvSpPr/>
          <p:nvPr/>
        </p:nvSpPr>
        <p:spPr>
          <a:xfrm>
            <a:off x="7589520" y="4617720"/>
            <a:ext cx="731520" cy="731520"/>
          </a:xfrm>
          <a:prstGeom prst="ellipse">
            <a:avLst/>
          </a:prstGeom>
          <a:solidFill>
            <a:srgbClr val="B8965A"/>
          </a:solidFill>
          <a:ln/>
        </p:spPr>
      </p:sp>
      <p:pic>
        <p:nvPicPr>
          <p:cNvPr id="17" name="Option 2 icon" descr="Option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030" y="4815230"/>
            <a:ext cx="336499" cy="336499"/>
          </a:xfrm>
          <a:prstGeom prst="rect">
            <a:avLst/>
          </a:prstGeom>
        </p:spPr>
      </p:pic>
      <p:sp>
        <p:nvSpPr>
          <p:cNvPr id="18" name="Option 2 title"/>
          <p:cNvSpPr txBox="1"/>
          <p:nvPr/>
        </p:nvSpPr>
        <p:spPr>
          <a:xfrm>
            <a:off x="8549640" y="4526280"/>
            <a:ext cx="2770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 — Raise the concern</a:t>
            </a:r>
            <a:endParaRPr lang="en-US" sz="1700" dirty="0"/>
          </a:p>
        </p:txBody>
      </p:sp>
      <p:sp>
        <p:nvSpPr>
          <p:cNvPr id="19" name="Option 2 text"/>
          <p:cNvSpPr txBox="1"/>
          <p:nvPr/>
        </p:nvSpPr>
        <p:spPr>
          <a:xfrm>
            <a:off x="8549640" y="5212080"/>
            <a:ext cx="2770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Create a pause for evidence, alternatives and clarity.</a:t>
            </a:r>
            <a:endParaRPr lang="en-US" sz="1400" dirty="0"/>
          </a:p>
        </p:txBody>
      </p:sp>
      <p:sp>
        <p:nvSpPr>
          <p:cNvPr id="20" name="Page label"/>
          <p:cNvSpPr txBox="1"/>
          <p:nvPr/>
        </p:nvSpPr>
        <p:spPr>
          <a:xfrm>
            <a:off x="10908792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chemeClr val="accent1"/>
                </a:solidFill>
              </a:rPr>
              <a:t>02 / QUICK AUDIENCE PULSE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04672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 before we begin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536192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No perfect answers — the goal is to notice our default reactions.</a:t>
            </a:r>
            <a:endParaRPr lang="en-US" sz="1600" dirty="0"/>
          </a:p>
        </p:txBody>
      </p:sp>
      <p:sp>
        <p:nvSpPr>
          <p:cNvPr id="5" name="Question card 01"/>
          <p:cNvSpPr/>
          <p:nvPr/>
        </p:nvSpPr>
        <p:spPr>
          <a:xfrm>
            <a:off x="640080" y="2331720"/>
            <a:ext cx="3454298" cy="3108960"/>
          </a:xfrm>
          <a:prstGeom prst="roundRect">
            <a:avLst>
              <a:gd name="adj" fmla="val 3529"/>
            </a:avLst>
          </a:prstGeom>
          <a:solidFill>
            <a:srgbClr val="22365F"/>
          </a:solidFill>
          <a:ln/>
        </p:spPr>
      </p:sp>
      <p:sp>
        <p:nvSpPr>
          <p:cNvPr id="6" name="Question 01 number"/>
          <p:cNvSpPr txBox="1"/>
          <p:nvPr/>
        </p:nvSpPr>
        <p:spPr>
          <a:xfrm>
            <a:off x="1005840" y="26517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Question 01 ring"/>
          <p:cNvSpPr/>
          <p:nvPr/>
        </p:nvSpPr>
        <p:spPr>
          <a:xfrm>
            <a:off x="3024530" y="2633472"/>
            <a:ext cx="768096" cy="768096"/>
          </a:xfrm>
          <a:prstGeom prst="ellipse">
            <a:avLst/>
          </a:prstGeom>
          <a:ln w="15875">
            <a:solidFill>
              <a:schemeClr val="accent1"/>
            </a:solidFill>
            <a:prstDash val="solid"/>
          </a:ln>
        </p:spPr>
      </p:sp>
      <p:sp>
        <p:nvSpPr>
          <p:cNvPr id="8" name="Question 01 circle"/>
          <p:cNvSpPr/>
          <p:nvPr/>
        </p:nvSpPr>
        <p:spPr>
          <a:xfrm>
            <a:off x="3088538" y="2697480"/>
            <a:ext cx="640080" cy="640080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9" name="Question 01 icon" descr="Question 0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1360" y="2870302"/>
            <a:ext cx="294437" cy="294437"/>
          </a:xfrm>
          <a:prstGeom prst="rect">
            <a:avLst/>
          </a:prstGeom>
        </p:spPr>
      </p:pic>
      <p:sp>
        <p:nvSpPr>
          <p:cNvPr id="10" name="Question 01 text"/>
          <p:cNvSpPr txBox="1"/>
          <p:nvPr/>
        </p:nvSpPr>
        <p:spPr>
          <a:xfrm>
            <a:off x="1005840" y="3703320"/>
            <a:ext cx="27227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Have you ever agreed publicly while disagreeing privately?</a:t>
            </a:r>
            <a:endParaRPr lang="en-US" sz="2200" dirty="0"/>
          </a:p>
        </p:txBody>
      </p:sp>
      <p:sp>
        <p:nvSpPr>
          <p:cNvPr id="11" name="Question card 02"/>
          <p:cNvSpPr/>
          <p:nvPr/>
        </p:nvSpPr>
        <p:spPr>
          <a:xfrm>
            <a:off x="4368698" y="2331720"/>
            <a:ext cx="3454298" cy="3108960"/>
          </a:xfrm>
          <a:prstGeom prst="roundRect">
            <a:avLst>
              <a:gd name="adj" fmla="val 3529"/>
            </a:avLst>
          </a:prstGeom>
          <a:solidFill>
            <a:srgbClr val="22365F"/>
          </a:solidFill>
          <a:ln/>
        </p:spPr>
      </p:sp>
      <p:sp>
        <p:nvSpPr>
          <p:cNvPr id="12" name="Question 02 number"/>
          <p:cNvSpPr txBox="1"/>
          <p:nvPr/>
        </p:nvSpPr>
        <p:spPr>
          <a:xfrm>
            <a:off x="4734458" y="26517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13" name="Question 02 ring"/>
          <p:cNvSpPr/>
          <p:nvPr/>
        </p:nvSpPr>
        <p:spPr>
          <a:xfrm>
            <a:off x="6753149" y="2633472"/>
            <a:ext cx="768096" cy="768096"/>
          </a:xfrm>
          <a:prstGeom prst="ellipse">
            <a:avLst/>
          </a:prstGeom>
          <a:ln w="15875">
            <a:solidFill>
              <a:schemeClr val="accent1"/>
            </a:solidFill>
            <a:prstDash val="solid"/>
          </a:ln>
        </p:spPr>
      </p:sp>
      <p:sp>
        <p:nvSpPr>
          <p:cNvPr id="14" name="Question 02 circle"/>
          <p:cNvSpPr/>
          <p:nvPr/>
        </p:nvSpPr>
        <p:spPr>
          <a:xfrm>
            <a:off x="6817157" y="2697480"/>
            <a:ext cx="640080" cy="640080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15" name="Question 02 icon" descr="Question 0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9978" y="2870302"/>
            <a:ext cx="294437" cy="294437"/>
          </a:xfrm>
          <a:prstGeom prst="rect">
            <a:avLst/>
          </a:prstGeom>
        </p:spPr>
      </p:pic>
      <p:sp>
        <p:nvSpPr>
          <p:cNvPr id="16" name="Question 02 text"/>
          <p:cNvSpPr txBox="1"/>
          <p:nvPr/>
        </p:nvSpPr>
        <p:spPr>
          <a:xfrm>
            <a:off x="4734458" y="3703320"/>
            <a:ext cx="27227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What stops people from speaking up: hierarchy, time, fear, or uncertainty?</a:t>
            </a:r>
            <a:endParaRPr lang="en-US" sz="2200" dirty="0"/>
          </a:p>
        </p:txBody>
      </p:sp>
      <p:sp>
        <p:nvSpPr>
          <p:cNvPr id="17" name="Question card 03"/>
          <p:cNvSpPr/>
          <p:nvPr/>
        </p:nvSpPr>
        <p:spPr>
          <a:xfrm>
            <a:off x="8097317" y="2331720"/>
            <a:ext cx="3454298" cy="3108960"/>
          </a:xfrm>
          <a:prstGeom prst="roundRect">
            <a:avLst>
              <a:gd name="adj" fmla="val 3529"/>
            </a:avLst>
          </a:prstGeom>
          <a:solidFill>
            <a:srgbClr val="22365F"/>
          </a:solidFill>
          <a:ln/>
        </p:spPr>
      </p:sp>
      <p:sp>
        <p:nvSpPr>
          <p:cNvPr id="18" name="Question 03 number"/>
          <p:cNvSpPr txBox="1"/>
          <p:nvPr/>
        </p:nvSpPr>
        <p:spPr>
          <a:xfrm>
            <a:off x="8463077" y="26517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19" name="Question 03 ring"/>
          <p:cNvSpPr/>
          <p:nvPr/>
        </p:nvSpPr>
        <p:spPr>
          <a:xfrm>
            <a:off x="10481767" y="2633472"/>
            <a:ext cx="768096" cy="768096"/>
          </a:xfrm>
          <a:prstGeom prst="ellipse">
            <a:avLst/>
          </a:prstGeom>
          <a:ln w="15875">
            <a:solidFill>
              <a:schemeClr val="accent1"/>
            </a:solidFill>
            <a:prstDash val="solid"/>
          </a:ln>
        </p:spPr>
      </p:sp>
      <p:sp>
        <p:nvSpPr>
          <p:cNvPr id="20" name="Question 03 circle"/>
          <p:cNvSpPr/>
          <p:nvPr/>
        </p:nvSpPr>
        <p:spPr>
          <a:xfrm>
            <a:off x="10545775" y="2697480"/>
            <a:ext cx="640080" cy="640080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21" name="Question 03 icon" descr="Question 0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8597" y="2870302"/>
            <a:ext cx="294437" cy="294437"/>
          </a:xfrm>
          <a:prstGeom prst="rect">
            <a:avLst/>
          </a:prstGeom>
        </p:spPr>
      </p:pic>
      <p:sp>
        <p:nvSpPr>
          <p:cNvPr id="22" name="Question 03 text"/>
          <p:cNvSpPr txBox="1"/>
          <p:nvPr/>
        </p:nvSpPr>
        <p:spPr>
          <a:xfrm>
            <a:off x="8463077" y="3703320"/>
            <a:ext cx="27227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What earns more trust: instant agreement or respectful honesty?</a:t>
            </a:r>
            <a:endParaRPr lang="en-US" sz="2200" dirty="0"/>
          </a:p>
        </p:txBody>
      </p:sp>
      <p:sp>
        <p:nvSpPr>
          <p:cNvPr id="23" name="Page label"/>
          <p:cNvSpPr txBox="1"/>
          <p:nvPr/>
        </p:nvSpPr>
        <p:spPr>
          <a:xfrm>
            <a:off x="10908792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chemeClr val="accent1"/>
                </a:solidFill>
              </a:rPr>
              <a:t>03 / THE CORE IDEA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04672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Speaking up is not the same as being difficult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536192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The aim is not to win an argument. It is to improve the decision.</a:t>
            </a:r>
            <a:endParaRPr lang="en-US" sz="1600" dirty="0"/>
          </a:p>
        </p:txBody>
      </p:sp>
      <p:sp>
        <p:nvSpPr>
          <p:cNvPr id="5" name="Pillar card 1"/>
          <p:cNvSpPr/>
          <p:nvPr/>
        </p:nvSpPr>
        <p:spPr>
          <a:xfrm>
            <a:off x="640080" y="2240280"/>
            <a:ext cx="2330120" cy="2788920"/>
          </a:xfrm>
          <a:prstGeom prst="roundRect">
            <a:avLst>
              <a:gd name="adj" fmla="val 47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F1E3D">
                <a:alpha val="14000"/>
              </a:srgbClr>
            </a:outerShdw>
          </a:effectLst>
        </p:spPr>
      </p:sp>
      <p:sp>
        <p:nvSpPr>
          <p:cNvPr id="6" name="Pillar 1 circle"/>
          <p:cNvSpPr/>
          <p:nvPr/>
        </p:nvSpPr>
        <p:spPr>
          <a:xfrm>
            <a:off x="1370800" y="2560320"/>
            <a:ext cx="868680" cy="868680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7" name="Pillar 1 icon" descr="Pillar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343" y="2794864"/>
            <a:ext cx="399593" cy="399593"/>
          </a:xfrm>
          <a:prstGeom prst="rect">
            <a:avLst/>
          </a:prstGeom>
        </p:spPr>
      </p:pic>
      <p:sp>
        <p:nvSpPr>
          <p:cNvPr id="8" name="Pillar 1 badge"/>
          <p:cNvSpPr/>
          <p:nvPr/>
        </p:nvSpPr>
        <p:spPr>
          <a:xfrm>
            <a:off x="2033740" y="2441448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Pillar 1 number"/>
          <p:cNvSpPr txBox="1"/>
          <p:nvPr/>
        </p:nvSpPr>
        <p:spPr>
          <a:xfrm>
            <a:off x="2033740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Pillar 1 title"/>
          <p:cNvSpPr txBox="1"/>
          <p:nvPr/>
        </p:nvSpPr>
        <p:spPr>
          <a:xfrm>
            <a:off x="822960" y="3611880"/>
            <a:ext cx="196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Courage</a:t>
            </a:r>
            <a:endParaRPr lang="en-US" sz="2000" dirty="0"/>
          </a:p>
        </p:txBody>
      </p:sp>
      <p:sp>
        <p:nvSpPr>
          <p:cNvPr id="11" name="Pillar 1 text"/>
          <p:cNvSpPr txBox="1"/>
          <p:nvPr/>
        </p:nvSpPr>
        <p:spPr>
          <a:xfrm>
            <a:off x="868680" y="4114800"/>
            <a:ext cx="187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Name the concern instead of hiding it.</a:t>
            </a:r>
            <a:endParaRPr lang="en-US" sz="1400" dirty="0"/>
          </a:p>
        </p:txBody>
      </p:sp>
      <p:sp>
        <p:nvSpPr>
          <p:cNvPr id="12" name="Arrow 1"/>
          <p:cNvSpPr txBox="1"/>
          <p:nvPr/>
        </p:nvSpPr>
        <p:spPr>
          <a:xfrm>
            <a:off x="2970200" y="2651760"/>
            <a:ext cx="530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Pillar card 2"/>
          <p:cNvSpPr/>
          <p:nvPr/>
        </p:nvSpPr>
        <p:spPr>
          <a:xfrm>
            <a:off x="3500552" y="2240280"/>
            <a:ext cx="2330120" cy="2788920"/>
          </a:xfrm>
          <a:prstGeom prst="roundRect">
            <a:avLst>
              <a:gd name="adj" fmla="val 47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F1E3D">
                <a:alpha val="14000"/>
              </a:srgbClr>
            </a:outerShdw>
          </a:effectLst>
        </p:spPr>
      </p:sp>
      <p:sp>
        <p:nvSpPr>
          <p:cNvPr id="14" name="Pillar 2 circle"/>
          <p:cNvSpPr/>
          <p:nvPr/>
        </p:nvSpPr>
        <p:spPr>
          <a:xfrm>
            <a:off x="4231272" y="2560320"/>
            <a:ext cx="868680" cy="868680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15" name="Pillar 2 icon" descr="Pillar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815" y="2794864"/>
            <a:ext cx="399593" cy="399593"/>
          </a:xfrm>
          <a:prstGeom prst="rect">
            <a:avLst/>
          </a:prstGeom>
        </p:spPr>
      </p:pic>
      <p:sp>
        <p:nvSpPr>
          <p:cNvPr id="16" name="Pillar 2 badge"/>
          <p:cNvSpPr/>
          <p:nvPr/>
        </p:nvSpPr>
        <p:spPr>
          <a:xfrm>
            <a:off x="4894212" y="2441448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Pillar 2 number"/>
          <p:cNvSpPr txBox="1"/>
          <p:nvPr/>
        </p:nvSpPr>
        <p:spPr>
          <a:xfrm>
            <a:off x="4894212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Pillar 2 title"/>
          <p:cNvSpPr txBox="1"/>
          <p:nvPr/>
        </p:nvSpPr>
        <p:spPr>
          <a:xfrm>
            <a:off x="3683432" y="3611880"/>
            <a:ext cx="196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2000" dirty="0"/>
          </a:p>
        </p:txBody>
      </p:sp>
      <p:sp>
        <p:nvSpPr>
          <p:cNvPr id="19" name="Pillar 2 text"/>
          <p:cNvSpPr txBox="1"/>
          <p:nvPr/>
        </p:nvSpPr>
        <p:spPr>
          <a:xfrm>
            <a:off x="3729152" y="4114800"/>
            <a:ext cx="187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Separate facts, assumptions and feelings.</a:t>
            </a:r>
            <a:endParaRPr lang="en-US" sz="1400" dirty="0"/>
          </a:p>
        </p:txBody>
      </p:sp>
      <p:sp>
        <p:nvSpPr>
          <p:cNvPr id="20" name="Arrow 2"/>
          <p:cNvSpPr txBox="1"/>
          <p:nvPr/>
        </p:nvSpPr>
        <p:spPr>
          <a:xfrm>
            <a:off x="5830672" y="2651760"/>
            <a:ext cx="530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→</a:t>
            </a:r>
            <a:endParaRPr lang="en-US" sz="2600" dirty="0"/>
          </a:p>
        </p:txBody>
      </p:sp>
      <p:sp>
        <p:nvSpPr>
          <p:cNvPr id="21" name="Pillar card 3"/>
          <p:cNvSpPr/>
          <p:nvPr/>
        </p:nvSpPr>
        <p:spPr>
          <a:xfrm>
            <a:off x="6361024" y="2240280"/>
            <a:ext cx="2330120" cy="2788920"/>
          </a:xfrm>
          <a:prstGeom prst="roundRect">
            <a:avLst>
              <a:gd name="adj" fmla="val 47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F1E3D">
                <a:alpha val="14000"/>
              </a:srgbClr>
            </a:outerShdw>
          </a:effectLst>
        </p:spPr>
      </p:sp>
      <p:sp>
        <p:nvSpPr>
          <p:cNvPr id="22" name="Pillar 3 circle"/>
          <p:cNvSpPr/>
          <p:nvPr/>
        </p:nvSpPr>
        <p:spPr>
          <a:xfrm>
            <a:off x="7091744" y="2560320"/>
            <a:ext cx="868680" cy="868680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23" name="Pillar 3 icon" descr="Pillar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287" y="2794864"/>
            <a:ext cx="399593" cy="399593"/>
          </a:xfrm>
          <a:prstGeom prst="rect">
            <a:avLst/>
          </a:prstGeom>
        </p:spPr>
      </p:pic>
      <p:sp>
        <p:nvSpPr>
          <p:cNvPr id="24" name="Pillar 3 badge"/>
          <p:cNvSpPr/>
          <p:nvPr/>
        </p:nvSpPr>
        <p:spPr>
          <a:xfrm>
            <a:off x="7754684" y="2441448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5" name="Pillar 3 number"/>
          <p:cNvSpPr txBox="1"/>
          <p:nvPr/>
        </p:nvSpPr>
        <p:spPr>
          <a:xfrm>
            <a:off x="7754684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Pillar 3 title"/>
          <p:cNvSpPr txBox="1"/>
          <p:nvPr/>
        </p:nvSpPr>
        <p:spPr>
          <a:xfrm>
            <a:off x="6543904" y="3611880"/>
            <a:ext cx="196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Respect</a:t>
            </a:r>
            <a:endParaRPr lang="en-US" sz="2000" dirty="0"/>
          </a:p>
        </p:txBody>
      </p:sp>
      <p:sp>
        <p:nvSpPr>
          <p:cNvPr id="27" name="Pillar 3 text"/>
          <p:cNvSpPr txBox="1"/>
          <p:nvPr/>
        </p:nvSpPr>
        <p:spPr>
          <a:xfrm>
            <a:off x="6589624" y="4114800"/>
            <a:ext cx="187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Challenge the idea, not the person.</a:t>
            </a:r>
            <a:endParaRPr lang="en-US" sz="1400" dirty="0"/>
          </a:p>
        </p:txBody>
      </p:sp>
      <p:sp>
        <p:nvSpPr>
          <p:cNvPr id="28" name="Arrow 3"/>
          <p:cNvSpPr txBox="1"/>
          <p:nvPr/>
        </p:nvSpPr>
        <p:spPr>
          <a:xfrm>
            <a:off x="8691143" y="2651760"/>
            <a:ext cx="530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→</a:t>
            </a:r>
            <a:endParaRPr lang="en-US" sz="2600" dirty="0"/>
          </a:p>
        </p:txBody>
      </p:sp>
      <p:sp>
        <p:nvSpPr>
          <p:cNvPr id="29" name="Pillar card 4"/>
          <p:cNvSpPr/>
          <p:nvPr/>
        </p:nvSpPr>
        <p:spPr>
          <a:xfrm>
            <a:off x="9221495" y="2240280"/>
            <a:ext cx="2330120" cy="2788920"/>
          </a:xfrm>
          <a:prstGeom prst="roundRect">
            <a:avLst>
              <a:gd name="adj" fmla="val 47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F1E3D">
                <a:alpha val="14000"/>
              </a:srgbClr>
            </a:outerShdw>
          </a:effectLst>
        </p:spPr>
      </p:sp>
      <p:sp>
        <p:nvSpPr>
          <p:cNvPr id="30" name="Pillar 4 circle"/>
          <p:cNvSpPr/>
          <p:nvPr/>
        </p:nvSpPr>
        <p:spPr>
          <a:xfrm>
            <a:off x="9952215" y="2560320"/>
            <a:ext cx="868680" cy="868680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31" name="Pillar 4 icon" descr="Pillar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6759" y="2794864"/>
            <a:ext cx="399593" cy="399593"/>
          </a:xfrm>
          <a:prstGeom prst="rect">
            <a:avLst/>
          </a:prstGeom>
        </p:spPr>
      </p:pic>
      <p:sp>
        <p:nvSpPr>
          <p:cNvPr id="32" name="Pillar 4 badge"/>
          <p:cNvSpPr/>
          <p:nvPr/>
        </p:nvSpPr>
        <p:spPr>
          <a:xfrm>
            <a:off x="10615155" y="2441448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3" name="Pillar 4 number"/>
          <p:cNvSpPr txBox="1"/>
          <p:nvPr/>
        </p:nvSpPr>
        <p:spPr>
          <a:xfrm>
            <a:off x="10615155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34" name="Pillar 4 title"/>
          <p:cNvSpPr txBox="1"/>
          <p:nvPr/>
        </p:nvSpPr>
        <p:spPr>
          <a:xfrm>
            <a:off x="9404375" y="3611880"/>
            <a:ext cx="196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</a:t>
            </a:r>
            <a:endParaRPr lang="en-US" sz="2000" dirty="0"/>
          </a:p>
        </p:txBody>
      </p:sp>
      <p:sp>
        <p:nvSpPr>
          <p:cNvPr id="35" name="Pillar 4 text"/>
          <p:cNvSpPr txBox="1"/>
          <p:nvPr/>
        </p:nvSpPr>
        <p:spPr>
          <a:xfrm>
            <a:off x="9450095" y="4114800"/>
            <a:ext cx="187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Offer a next step, not just a complaint.</a:t>
            </a:r>
            <a:endParaRPr lang="en-US" sz="1400" dirty="0"/>
          </a:p>
        </p:txBody>
      </p:sp>
      <p:sp>
        <p:nvSpPr>
          <p:cNvPr id="36" name="Takeaway banner"/>
          <p:cNvSpPr/>
          <p:nvPr/>
        </p:nvSpPr>
        <p:spPr>
          <a:xfrm>
            <a:off x="640080" y="5349240"/>
            <a:ext cx="10911535" cy="713232"/>
          </a:xfrm>
          <a:prstGeom prst="roundRect">
            <a:avLst>
              <a:gd name="adj" fmla="val 15385"/>
            </a:avLst>
          </a:prstGeom>
          <a:solidFill>
            <a:srgbClr val="0F1E3D"/>
          </a:solidFill>
          <a:ln/>
        </p:spPr>
      </p:sp>
      <p:sp>
        <p:nvSpPr>
          <p:cNvPr id="37" name="Takeaway"/>
          <p:cNvSpPr txBox="1"/>
          <p:nvPr/>
        </p:nvSpPr>
        <p:spPr>
          <a:xfrm>
            <a:off x="914400" y="5349240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useful challenge combines candour with care.</a:t>
            </a:r>
            <a:endParaRPr lang="en-US" sz="2100" dirty="0"/>
          </a:p>
        </p:txBody>
      </p:sp>
      <p:sp>
        <p:nvSpPr>
          <p:cNvPr id="38" name="Page label"/>
          <p:cNvSpPr txBox="1"/>
          <p:nvPr/>
        </p:nvSpPr>
        <p:spPr>
          <a:xfrm>
            <a:off x="10908792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chemeClr val="accent1"/>
                </a:solidFill>
              </a:rPr>
              <a:t>04 / A SHORT STORY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04672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five-minute pause that saved the launch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536192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A fictional composite scenario inspired by common project-team situations.</a:t>
            </a:r>
            <a:endParaRPr lang="en-US" sz="1600" dirty="0"/>
          </a:p>
        </p:txBody>
      </p:sp>
      <p:sp>
        <p:nvSpPr>
          <p:cNvPr id="5" name="Timeline line"/>
          <p:cNvSpPr/>
          <p:nvPr/>
        </p:nvSpPr>
        <p:spPr>
          <a:xfrm>
            <a:off x="2004022" y="3291840"/>
            <a:ext cx="8183651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Time 1"/>
          <p:cNvSpPr txBox="1"/>
          <p:nvPr/>
        </p:nvSpPr>
        <p:spPr>
          <a:xfrm>
            <a:off x="1089622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09:00</a:t>
            </a:r>
            <a:endParaRPr lang="en-US" sz="1800" dirty="0"/>
          </a:p>
        </p:txBody>
      </p:sp>
      <p:sp>
        <p:nvSpPr>
          <p:cNvPr id="7" name="Step 1 ring"/>
          <p:cNvSpPr/>
          <p:nvPr/>
        </p:nvSpPr>
        <p:spPr>
          <a:xfrm>
            <a:off x="1528534" y="2816352"/>
            <a:ext cx="950976" cy="950976"/>
          </a:xfrm>
          <a:prstGeom prst="ellipse">
            <a:avLst/>
          </a:prstGeom>
          <a:ln w="15875">
            <a:solidFill>
              <a:schemeClr val="accent1"/>
            </a:solidFill>
            <a:prstDash val="solid"/>
          </a:ln>
        </p:spPr>
      </p:sp>
      <p:sp>
        <p:nvSpPr>
          <p:cNvPr id="8" name="Step 1 circle"/>
          <p:cNvSpPr/>
          <p:nvPr/>
        </p:nvSpPr>
        <p:spPr>
          <a:xfrm>
            <a:off x="1592542" y="2880360"/>
            <a:ext cx="822960" cy="822960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9" name="Step 1 icon" descr="Step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741" y="3102559"/>
            <a:ext cx="378562" cy="378562"/>
          </a:xfrm>
          <a:prstGeom prst="rect">
            <a:avLst/>
          </a:prstGeom>
        </p:spPr>
      </p:pic>
      <p:sp>
        <p:nvSpPr>
          <p:cNvPr id="10" name="Step 1 title"/>
          <p:cNvSpPr txBox="1"/>
          <p:nvPr/>
        </p:nvSpPr>
        <p:spPr>
          <a:xfrm>
            <a:off x="723862" y="3931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</a:t>
            </a:r>
            <a:endParaRPr lang="en-US" sz="1900" dirty="0"/>
          </a:p>
        </p:txBody>
      </p:sp>
      <p:sp>
        <p:nvSpPr>
          <p:cNvPr id="11" name="Step 1 text"/>
          <p:cNvSpPr txBox="1"/>
          <p:nvPr/>
        </p:nvSpPr>
        <p:spPr>
          <a:xfrm>
            <a:off x="769582" y="4389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The team agrees to release a dashboard today.</a:t>
            </a:r>
            <a:endParaRPr lang="en-US" sz="1400" dirty="0"/>
          </a:p>
        </p:txBody>
      </p:sp>
      <p:sp>
        <p:nvSpPr>
          <p:cNvPr id="12" name="Time 2"/>
          <p:cNvSpPr txBox="1"/>
          <p:nvPr/>
        </p:nvSpPr>
        <p:spPr>
          <a:xfrm>
            <a:off x="3817506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09:12</a:t>
            </a:r>
            <a:endParaRPr lang="en-US" sz="1800" dirty="0"/>
          </a:p>
        </p:txBody>
      </p:sp>
      <p:sp>
        <p:nvSpPr>
          <p:cNvPr id="13" name="Step 2 ring"/>
          <p:cNvSpPr/>
          <p:nvPr/>
        </p:nvSpPr>
        <p:spPr>
          <a:xfrm>
            <a:off x="4256418" y="2816352"/>
            <a:ext cx="950976" cy="950976"/>
          </a:xfrm>
          <a:prstGeom prst="ellipse">
            <a:avLst/>
          </a:prstGeom>
          <a:ln w="15875">
            <a:solidFill>
              <a:schemeClr val="accent1"/>
            </a:solidFill>
            <a:prstDash val="solid"/>
          </a:ln>
        </p:spPr>
      </p:sp>
      <p:sp>
        <p:nvSpPr>
          <p:cNvPr id="14" name="Step 2 circle"/>
          <p:cNvSpPr/>
          <p:nvPr/>
        </p:nvSpPr>
        <p:spPr>
          <a:xfrm>
            <a:off x="4320426" y="2880360"/>
            <a:ext cx="822960" cy="822960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15" name="Step 2 icon" descr="Step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625" y="3102559"/>
            <a:ext cx="378562" cy="378562"/>
          </a:xfrm>
          <a:prstGeom prst="rect">
            <a:avLst/>
          </a:prstGeom>
        </p:spPr>
      </p:pic>
      <p:sp>
        <p:nvSpPr>
          <p:cNvPr id="16" name="Step 2 title"/>
          <p:cNvSpPr txBox="1"/>
          <p:nvPr/>
        </p:nvSpPr>
        <p:spPr>
          <a:xfrm>
            <a:off x="3451746" y="3931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</a:t>
            </a:r>
            <a:endParaRPr lang="en-US" sz="1900" dirty="0"/>
          </a:p>
        </p:txBody>
      </p:sp>
      <p:sp>
        <p:nvSpPr>
          <p:cNvPr id="17" name="Step 2 text"/>
          <p:cNvSpPr txBox="1"/>
          <p:nvPr/>
        </p:nvSpPr>
        <p:spPr>
          <a:xfrm>
            <a:off x="3497466" y="4389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An analyst spots that yesterday’s data is incomplete.</a:t>
            </a:r>
            <a:endParaRPr lang="en-US" sz="1400" dirty="0"/>
          </a:p>
        </p:txBody>
      </p:sp>
      <p:sp>
        <p:nvSpPr>
          <p:cNvPr id="18" name="Time 3"/>
          <p:cNvSpPr txBox="1"/>
          <p:nvPr/>
        </p:nvSpPr>
        <p:spPr>
          <a:xfrm>
            <a:off x="654539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09:15</a:t>
            </a:r>
            <a:endParaRPr lang="en-US" sz="1800" dirty="0"/>
          </a:p>
        </p:txBody>
      </p:sp>
      <p:sp>
        <p:nvSpPr>
          <p:cNvPr id="19" name="Step 3 ring"/>
          <p:cNvSpPr/>
          <p:nvPr/>
        </p:nvSpPr>
        <p:spPr>
          <a:xfrm>
            <a:off x="6984302" y="2816352"/>
            <a:ext cx="950976" cy="950976"/>
          </a:xfrm>
          <a:prstGeom prst="ellipse">
            <a:avLst/>
          </a:prstGeom>
          <a:ln w="15875">
            <a:solidFill>
              <a:schemeClr val="accent1"/>
            </a:solidFill>
            <a:prstDash val="solid"/>
          </a:ln>
        </p:spPr>
      </p:sp>
      <p:sp>
        <p:nvSpPr>
          <p:cNvPr id="20" name="Step 3 circle"/>
          <p:cNvSpPr/>
          <p:nvPr/>
        </p:nvSpPr>
        <p:spPr>
          <a:xfrm>
            <a:off x="7048310" y="2880360"/>
            <a:ext cx="822960" cy="822960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21" name="Step 3 icon" descr="Step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0509" y="3102559"/>
            <a:ext cx="378562" cy="378562"/>
          </a:xfrm>
          <a:prstGeom prst="rect">
            <a:avLst/>
          </a:prstGeom>
        </p:spPr>
      </p:pic>
      <p:sp>
        <p:nvSpPr>
          <p:cNvPr id="22" name="Step 3 title"/>
          <p:cNvSpPr txBox="1"/>
          <p:nvPr/>
        </p:nvSpPr>
        <p:spPr>
          <a:xfrm>
            <a:off x="6179630" y="3931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900" dirty="0"/>
          </a:p>
        </p:txBody>
      </p:sp>
      <p:sp>
        <p:nvSpPr>
          <p:cNvPr id="23" name="Step 3 text"/>
          <p:cNvSpPr txBox="1"/>
          <p:nvPr/>
        </p:nvSpPr>
        <p:spPr>
          <a:xfrm>
            <a:off x="6225350" y="4389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They show the missing-load evidence and suggest a check.</a:t>
            </a:r>
            <a:endParaRPr lang="en-US" sz="1400" dirty="0"/>
          </a:p>
        </p:txBody>
      </p:sp>
      <p:sp>
        <p:nvSpPr>
          <p:cNvPr id="24" name="Time 4"/>
          <p:cNvSpPr txBox="1"/>
          <p:nvPr/>
        </p:nvSpPr>
        <p:spPr>
          <a:xfrm>
            <a:off x="9273273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09:20</a:t>
            </a:r>
            <a:endParaRPr lang="en-US" sz="1800" dirty="0"/>
          </a:p>
        </p:txBody>
      </p:sp>
      <p:sp>
        <p:nvSpPr>
          <p:cNvPr id="25" name="Step 4 ring"/>
          <p:cNvSpPr/>
          <p:nvPr/>
        </p:nvSpPr>
        <p:spPr>
          <a:xfrm>
            <a:off x="9712185" y="2816352"/>
            <a:ext cx="950976" cy="950976"/>
          </a:xfrm>
          <a:prstGeom prst="ellipse">
            <a:avLst/>
          </a:prstGeom>
          <a:ln w="15875">
            <a:solidFill>
              <a:schemeClr val="accent1"/>
            </a:solidFill>
            <a:prstDash val="solid"/>
          </a:ln>
        </p:spPr>
      </p:sp>
      <p:sp>
        <p:nvSpPr>
          <p:cNvPr id="26" name="Step 4 circle"/>
          <p:cNvSpPr/>
          <p:nvPr/>
        </p:nvSpPr>
        <p:spPr>
          <a:xfrm>
            <a:off x="9776193" y="2880360"/>
            <a:ext cx="822960" cy="822960"/>
          </a:xfrm>
          <a:prstGeom prst="ellipse">
            <a:avLst/>
          </a:prstGeom>
          <a:solidFill>
            <a:srgbClr val="B8965A"/>
          </a:solidFill>
          <a:ln/>
        </p:spPr>
      </p:sp>
      <p:pic>
        <p:nvPicPr>
          <p:cNvPr id="27" name="Step 4 icon" descr="Step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8393" y="3102559"/>
            <a:ext cx="378562" cy="378562"/>
          </a:xfrm>
          <a:prstGeom prst="rect">
            <a:avLst/>
          </a:prstGeom>
        </p:spPr>
      </p:pic>
      <p:sp>
        <p:nvSpPr>
          <p:cNvPr id="28" name="Step 4 title"/>
          <p:cNvSpPr txBox="1"/>
          <p:nvPr/>
        </p:nvSpPr>
        <p:spPr>
          <a:xfrm>
            <a:off x="8907513" y="3931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outcome</a:t>
            </a:r>
            <a:endParaRPr lang="en-US" sz="1900" dirty="0"/>
          </a:p>
        </p:txBody>
      </p:sp>
      <p:sp>
        <p:nvSpPr>
          <p:cNvPr id="29" name="Step 4 text"/>
          <p:cNvSpPr txBox="1"/>
          <p:nvPr/>
        </p:nvSpPr>
        <p:spPr>
          <a:xfrm>
            <a:off x="8953233" y="4389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Release pauses; the data issue is fixed before users rely on it.</a:t>
            </a:r>
            <a:endParaRPr lang="en-US" sz="1400" dirty="0"/>
          </a:p>
        </p:txBody>
      </p:sp>
      <p:sp>
        <p:nvSpPr>
          <p:cNvPr id="30" name="Story banner"/>
          <p:cNvSpPr/>
          <p:nvPr/>
        </p:nvSpPr>
        <p:spPr>
          <a:xfrm>
            <a:off x="640080" y="5394960"/>
            <a:ext cx="10911535" cy="685800"/>
          </a:xfrm>
          <a:prstGeom prst="roundRect">
            <a:avLst>
              <a:gd name="adj" fmla="val 16000"/>
            </a:avLst>
          </a:prstGeom>
          <a:solidFill>
            <a:srgbClr val="0F1E3D"/>
          </a:solidFill>
          <a:ln/>
        </p:spPr>
      </p:sp>
      <p:sp>
        <p:nvSpPr>
          <p:cNvPr id="31" name="Story takeaway"/>
          <p:cNvSpPr txBox="1"/>
          <p:nvPr/>
        </p:nvSpPr>
        <p:spPr>
          <a:xfrm>
            <a:off x="914400" y="539496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The hero wasn’t the loudest person. It was the person who made the risk visible.</a:t>
            </a:r>
            <a:endParaRPr lang="en-US" sz="1800" dirty="0"/>
          </a:p>
        </p:txBody>
      </p:sp>
      <p:sp>
        <p:nvSpPr>
          <p:cNvPr id="32" name="Page label"/>
          <p:cNvSpPr txBox="1"/>
          <p:nvPr/>
        </p:nvSpPr>
        <p:spPr>
          <a:xfrm>
            <a:off x="10908792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chemeClr val="accent1"/>
                </a:solidFill>
              </a:rPr>
              <a:t>06 / A PRACTICAL RESPONSE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04672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“FACT” structure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536192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A calm, repeatable script for raising concerns without creating a personal confrontation.</a:t>
            </a:r>
            <a:endParaRPr lang="en-US" sz="1600" dirty="0"/>
          </a:p>
        </p:txBody>
      </p:sp>
      <p:sp>
        <p:nvSpPr>
          <p:cNvPr id="5" name="Letter tile F"/>
          <p:cNvSpPr/>
          <p:nvPr/>
        </p:nvSpPr>
        <p:spPr>
          <a:xfrm>
            <a:off x="640080" y="21488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F1E3D"/>
          </a:solidFill>
          <a:ln/>
        </p:spPr>
      </p:sp>
      <p:sp>
        <p:nvSpPr>
          <p:cNvPr id="6" name="Letter F"/>
          <p:cNvSpPr txBox="1"/>
          <p:nvPr/>
        </p:nvSpPr>
        <p:spPr>
          <a:xfrm>
            <a:off x="6400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3200" dirty="0"/>
          </a:p>
        </p:txBody>
      </p:sp>
      <p:sp>
        <p:nvSpPr>
          <p:cNvPr id="7" name="Label F"/>
          <p:cNvSpPr txBox="1"/>
          <p:nvPr/>
        </p:nvSpPr>
        <p:spPr>
          <a:xfrm>
            <a:off x="1600200" y="21488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the shared goal</a:t>
            </a:r>
            <a:endParaRPr lang="en-US" sz="1800" dirty="0"/>
          </a:p>
        </p:txBody>
      </p:sp>
      <p:sp>
        <p:nvSpPr>
          <p:cNvPr id="8" name="Script card F"/>
          <p:cNvSpPr/>
          <p:nvPr/>
        </p:nvSpPr>
        <p:spPr>
          <a:xfrm>
            <a:off x="4526280" y="2148840"/>
            <a:ext cx="7025335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F1E3D">
                <a:alpha val="14000"/>
              </a:srgbClr>
            </a:outerShdw>
          </a:effectLst>
        </p:spPr>
      </p:sp>
      <p:sp>
        <p:nvSpPr>
          <p:cNvPr id="9" name="Script F"/>
          <p:cNvSpPr txBox="1"/>
          <p:nvPr/>
        </p:nvSpPr>
        <p:spPr>
          <a:xfrm>
            <a:off x="4800600" y="2148840"/>
            <a:ext cx="6568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“I know we want the review to go smoothly.”</a:t>
            </a:r>
            <a:endParaRPr lang="en-US" sz="1500" dirty="0"/>
          </a:p>
        </p:txBody>
      </p:sp>
      <p:sp>
        <p:nvSpPr>
          <p:cNvPr id="10" name="Letter tile A"/>
          <p:cNvSpPr/>
          <p:nvPr/>
        </p:nvSpPr>
        <p:spPr>
          <a:xfrm>
            <a:off x="640080" y="2999232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F1E3D"/>
          </a:solidFill>
          <a:ln/>
        </p:spPr>
      </p:sp>
      <p:sp>
        <p:nvSpPr>
          <p:cNvPr id="11" name="Letter A"/>
          <p:cNvSpPr txBox="1"/>
          <p:nvPr/>
        </p:nvSpPr>
        <p:spPr>
          <a:xfrm>
            <a:off x="640080" y="29992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200" dirty="0"/>
          </a:p>
        </p:txBody>
      </p:sp>
      <p:sp>
        <p:nvSpPr>
          <p:cNvPr id="12" name="Label A"/>
          <p:cNvSpPr txBox="1"/>
          <p:nvPr/>
        </p:nvSpPr>
        <p:spPr>
          <a:xfrm>
            <a:off x="1600200" y="29992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observable evidence</a:t>
            </a:r>
            <a:endParaRPr lang="en-US" sz="1800" dirty="0"/>
          </a:p>
        </p:txBody>
      </p:sp>
      <p:sp>
        <p:nvSpPr>
          <p:cNvPr id="13" name="Script card A"/>
          <p:cNvSpPr/>
          <p:nvPr/>
        </p:nvSpPr>
        <p:spPr>
          <a:xfrm>
            <a:off x="4526280" y="2999232"/>
            <a:ext cx="7025335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F1E3D">
                <a:alpha val="14000"/>
              </a:srgbClr>
            </a:outerShdw>
          </a:effectLst>
        </p:spPr>
      </p:sp>
      <p:sp>
        <p:nvSpPr>
          <p:cNvPr id="14" name="Script A"/>
          <p:cNvSpPr txBox="1"/>
          <p:nvPr/>
        </p:nvSpPr>
        <p:spPr>
          <a:xfrm>
            <a:off x="4800600" y="2999232"/>
            <a:ext cx="6568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“The source table hasn’t refreshed since yesterday.”</a:t>
            </a:r>
            <a:endParaRPr lang="en-US" sz="1500" dirty="0"/>
          </a:p>
        </p:txBody>
      </p:sp>
      <p:sp>
        <p:nvSpPr>
          <p:cNvPr id="15" name="Letter tile C"/>
          <p:cNvSpPr/>
          <p:nvPr/>
        </p:nvSpPr>
        <p:spPr>
          <a:xfrm>
            <a:off x="640080" y="3849624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F1E3D"/>
          </a:solidFill>
          <a:ln/>
        </p:spPr>
      </p:sp>
      <p:sp>
        <p:nvSpPr>
          <p:cNvPr id="16" name="Letter C"/>
          <p:cNvSpPr txBox="1"/>
          <p:nvPr/>
        </p:nvSpPr>
        <p:spPr>
          <a:xfrm>
            <a:off x="640080" y="38496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200" dirty="0"/>
          </a:p>
        </p:txBody>
      </p:sp>
      <p:sp>
        <p:nvSpPr>
          <p:cNvPr id="17" name="Label C"/>
          <p:cNvSpPr txBox="1"/>
          <p:nvPr/>
        </p:nvSpPr>
        <p:spPr>
          <a:xfrm>
            <a:off x="1600200" y="384962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Clarify the risk</a:t>
            </a:r>
            <a:endParaRPr lang="en-US" sz="1800" dirty="0"/>
          </a:p>
        </p:txBody>
      </p:sp>
      <p:sp>
        <p:nvSpPr>
          <p:cNvPr id="18" name="Script card C"/>
          <p:cNvSpPr/>
          <p:nvPr/>
        </p:nvSpPr>
        <p:spPr>
          <a:xfrm>
            <a:off x="4526280" y="3849624"/>
            <a:ext cx="7025335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F1E3D">
                <a:alpha val="14000"/>
              </a:srgbClr>
            </a:outerShdw>
          </a:effectLst>
        </p:spPr>
      </p:sp>
      <p:sp>
        <p:nvSpPr>
          <p:cNvPr id="19" name="Script C"/>
          <p:cNvSpPr txBox="1"/>
          <p:nvPr/>
        </p:nvSpPr>
        <p:spPr>
          <a:xfrm>
            <a:off x="4800600" y="3849624"/>
            <a:ext cx="6568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“That could make today’s figures misleading.”</a:t>
            </a:r>
            <a:endParaRPr lang="en-US" sz="1500" dirty="0"/>
          </a:p>
        </p:txBody>
      </p:sp>
      <p:sp>
        <p:nvSpPr>
          <p:cNvPr id="20" name="Letter tile T"/>
          <p:cNvSpPr/>
          <p:nvPr/>
        </p:nvSpPr>
        <p:spPr>
          <a:xfrm>
            <a:off x="640080" y="4700016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F1E3D"/>
          </a:solidFill>
          <a:ln/>
        </p:spPr>
      </p:sp>
      <p:sp>
        <p:nvSpPr>
          <p:cNvPr id="21" name="Letter T"/>
          <p:cNvSpPr txBox="1"/>
          <p:nvPr/>
        </p:nvSpPr>
        <p:spPr>
          <a:xfrm>
            <a:off x="640080" y="47000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3200" dirty="0"/>
          </a:p>
        </p:txBody>
      </p:sp>
      <p:sp>
        <p:nvSpPr>
          <p:cNvPr id="22" name="Label T"/>
          <p:cNvSpPr txBox="1"/>
          <p:nvPr/>
        </p:nvSpPr>
        <p:spPr>
          <a:xfrm>
            <a:off x="1600200" y="470001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a next step</a:t>
            </a:r>
            <a:endParaRPr lang="en-US" sz="1800" dirty="0"/>
          </a:p>
        </p:txBody>
      </p:sp>
      <p:sp>
        <p:nvSpPr>
          <p:cNvPr id="23" name="Script card T"/>
          <p:cNvSpPr/>
          <p:nvPr/>
        </p:nvSpPr>
        <p:spPr>
          <a:xfrm>
            <a:off x="4526280" y="4700016"/>
            <a:ext cx="7025335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F1E3D">
                <a:alpha val="14000"/>
              </a:srgbClr>
            </a:outerShdw>
          </a:effectLst>
        </p:spPr>
      </p:sp>
      <p:sp>
        <p:nvSpPr>
          <p:cNvPr id="24" name="Script T"/>
          <p:cNvSpPr txBox="1"/>
          <p:nvPr/>
        </p:nvSpPr>
        <p:spPr>
          <a:xfrm>
            <a:off x="4800600" y="4700016"/>
            <a:ext cx="6568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“Can we validate the load and label the report if it’s still incomplete?”</a:t>
            </a:r>
            <a:endParaRPr lang="en-US" sz="1500" dirty="0"/>
          </a:p>
        </p:txBody>
      </p:sp>
      <p:sp>
        <p:nvSpPr>
          <p:cNvPr id="25" name="FACT callout"/>
          <p:cNvSpPr/>
          <p:nvPr/>
        </p:nvSpPr>
        <p:spPr>
          <a:xfrm>
            <a:off x="640080" y="5577840"/>
            <a:ext cx="10911535" cy="530352"/>
          </a:xfrm>
          <a:prstGeom prst="roundRect">
            <a:avLst>
              <a:gd name="adj" fmla="val 20690"/>
            </a:avLst>
          </a:prstGeom>
          <a:solidFill>
            <a:srgbClr val="EFE6D4"/>
          </a:solidFill>
          <a:ln/>
        </p:spPr>
      </p:sp>
      <p:sp>
        <p:nvSpPr>
          <p:cNvPr id="26" name="FACT takeaway"/>
          <p:cNvSpPr txBox="1"/>
          <p:nvPr/>
        </p:nvSpPr>
        <p:spPr>
          <a:xfrm>
            <a:off x="914400" y="5577840"/>
            <a:ext cx="103628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 specific about the risk; be collaborative about the solution.</a:t>
            </a:r>
            <a:endParaRPr lang="en-US" sz="1600" dirty="0"/>
          </a:p>
        </p:txBody>
      </p:sp>
      <p:sp>
        <p:nvSpPr>
          <p:cNvPr id="27" name="Page label"/>
          <p:cNvSpPr txBox="1"/>
          <p:nvPr/>
        </p:nvSpPr>
        <p:spPr>
          <a:xfrm>
            <a:off x="10908792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chemeClr val="accent1"/>
                </a:solidFill>
              </a:rPr>
              <a:t>07 / LANGUAGE THAT WORKS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04672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confrontation with constructive candour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536192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Small changes in wording can lower defensiveness without weakening the message.</a:t>
            </a:r>
            <a:endParaRPr lang="en-US" sz="1600" dirty="0"/>
          </a:p>
        </p:txBody>
      </p:sp>
      <p:sp>
        <p:nvSpPr>
          <p:cNvPr id="5" name="Instead header"/>
          <p:cNvSpPr/>
          <p:nvPr/>
        </p:nvSpPr>
        <p:spPr>
          <a:xfrm>
            <a:off x="640080" y="2148840"/>
            <a:ext cx="4937760" cy="438912"/>
          </a:xfrm>
          <a:prstGeom prst="roundRect">
            <a:avLst>
              <a:gd name="adj" fmla="val 25000"/>
            </a:avLst>
          </a:prstGeom>
          <a:solidFill>
            <a:srgbClr val="5E6A82"/>
          </a:solidFill>
          <a:ln/>
        </p:spPr>
      </p:sp>
      <p:sp>
        <p:nvSpPr>
          <p:cNvPr id="6" name="Instead label"/>
          <p:cNvSpPr txBox="1"/>
          <p:nvPr/>
        </p:nvSpPr>
        <p:spPr>
          <a:xfrm>
            <a:off x="914400" y="214884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chemeClr val="bg1"/>
                </a:solidFill>
              </a:rPr>
              <a:t>INSTEAD OF…</a:t>
            </a:r>
            <a:endParaRPr lang="en-US" sz="1300" dirty="0"/>
          </a:p>
        </p:txBody>
      </p:sp>
      <p:sp>
        <p:nvSpPr>
          <p:cNvPr id="7" name="Try header"/>
          <p:cNvSpPr/>
          <p:nvPr/>
        </p:nvSpPr>
        <p:spPr>
          <a:xfrm>
            <a:off x="6613855" y="2148840"/>
            <a:ext cx="4937760" cy="438912"/>
          </a:xfrm>
          <a:prstGeom prst="roundRect">
            <a:avLst>
              <a:gd name="adj" fmla="val 25000"/>
            </a:avLst>
          </a:prstGeom>
          <a:solidFill>
            <a:srgbClr val="0F1E3D"/>
          </a:solidFill>
          <a:ln/>
        </p:spPr>
      </p:sp>
      <p:sp>
        <p:nvSpPr>
          <p:cNvPr id="8" name="Try label"/>
          <p:cNvSpPr txBox="1"/>
          <p:nvPr/>
        </p:nvSpPr>
        <p:spPr>
          <a:xfrm>
            <a:off x="6888175" y="214884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chemeClr val="accent1"/>
                </a:solidFill>
              </a:rPr>
              <a:t>TRY…</a:t>
            </a:r>
            <a:endParaRPr lang="en-US" sz="1300" dirty="0"/>
          </a:p>
        </p:txBody>
      </p:sp>
      <p:sp>
        <p:nvSpPr>
          <p:cNvPr id="9" name="Instead card 1"/>
          <p:cNvSpPr/>
          <p:nvPr/>
        </p:nvSpPr>
        <p:spPr>
          <a:xfrm>
            <a:off x="640080" y="2770632"/>
            <a:ext cx="49377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F1E3D">
                <a:alpha val="14000"/>
              </a:srgbClr>
            </a:outerShdw>
          </a:effectLst>
        </p:spPr>
      </p:sp>
      <p:pic>
        <p:nvPicPr>
          <p:cNvPr id="10" name="Avoid icon 1" descr="Avo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008376"/>
            <a:ext cx="237744" cy="237744"/>
          </a:xfrm>
          <a:prstGeom prst="rect">
            <a:avLst/>
          </a:prstGeom>
        </p:spPr>
      </p:pic>
      <p:sp>
        <p:nvSpPr>
          <p:cNvPr id="11" name="Instead 1"/>
          <p:cNvSpPr txBox="1"/>
          <p:nvPr/>
        </p:nvSpPr>
        <p:spPr>
          <a:xfrm>
            <a:off x="1371600" y="277063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“This plan is wrong.”</a:t>
            </a:r>
            <a:endParaRPr lang="en-US" sz="1600" dirty="0"/>
          </a:p>
        </p:txBody>
      </p:sp>
      <p:pic>
        <p:nvPicPr>
          <p:cNvPr id="12" name="Arrow icon 1" descr="Beco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256" y="2962656"/>
            <a:ext cx="329184" cy="329184"/>
          </a:xfrm>
          <a:prstGeom prst="rect">
            <a:avLst/>
          </a:prstGeom>
        </p:spPr>
      </p:pic>
      <p:sp>
        <p:nvSpPr>
          <p:cNvPr id="13" name="Try card 1"/>
          <p:cNvSpPr/>
          <p:nvPr/>
        </p:nvSpPr>
        <p:spPr>
          <a:xfrm>
            <a:off x="6613855" y="2770632"/>
            <a:ext cx="49377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F1E3D">
                <a:alpha val="14000"/>
              </a:srgbClr>
            </a:outerShdw>
          </a:effectLst>
        </p:spPr>
      </p:sp>
      <p:pic>
        <p:nvPicPr>
          <p:cNvPr id="14" name="Use icon 1" descr="U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175" y="2999232"/>
            <a:ext cx="256032" cy="256032"/>
          </a:xfrm>
          <a:prstGeom prst="rect">
            <a:avLst/>
          </a:prstGeom>
        </p:spPr>
      </p:pic>
      <p:sp>
        <p:nvSpPr>
          <p:cNvPr id="15" name="Try 1"/>
          <p:cNvSpPr txBox="1"/>
          <p:nvPr/>
        </p:nvSpPr>
        <p:spPr>
          <a:xfrm>
            <a:off x="7345375" y="277063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“Can we test one assumption before we commit?”</a:t>
            </a:r>
            <a:endParaRPr lang="en-US" sz="1600" dirty="0"/>
          </a:p>
        </p:txBody>
      </p:sp>
      <p:sp>
        <p:nvSpPr>
          <p:cNvPr id="16" name="Instead card 2"/>
          <p:cNvSpPr/>
          <p:nvPr/>
        </p:nvSpPr>
        <p:spPr>
          <a:xfrm>
            <a:off x="640080" y="3639312"/>
            <a:ext cx="49377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F1E3D">
                <a:alpha val="14000"/>
              </a:srgbClr>
            </a:outerShdw>
          </a:effectLst>
        </p:spPr>
      </p:sp>
      <p:pic>
        <p:nvPicPr>
          <p:cNvPr id="17" name="Avoid icon 2" descr="Avoi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77056"/>
            <a:ext cx="237744" cy="237744"/>
          </a:xfrm>
          <a:prstGeom prst="rect">
            <a:avLst/>
          </a:prstGeom>
        </p:spPr>
      </p:pic>
      <p:sp>
        <p:nvSpPr>
          <p:cNvPr id="18" name="Instead 2"/>
          <p:cNvSpPr txBox="1"/>
          <p:nvPr/>
        </p:nvSpPr>
        <p:spPr>
          <a:xfrm>
            <a:off x="1371600" y="363931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“Nobody checked the data.”</a:t>
            </a:r>
            <a:endParaRPr lang="en-US" sz="1600" dirty="0"/>
          </a:p>
        </p:txBody>
      </p:sp>
      <p:pic>
        <p:nvPicPr>
          <p:cNvPr id="19" name="Arrow icon 2" descr="Becom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1256" y="3831336"/>
            <a:ext cx="329184" cy="329184"/>
          </a:xfrm>
          <a:prstGeom prst="rect">
            <a:avLst/>
          </a:prstGeom>
        </p:spPr>
      </p:pic>
      <p:sp>
        <p:nvSpPr>
          <p:cNvPr id="20" name="Try card 2"/>
          <p:cNvSpPr/>
          <p:nvPr/>
        </p:nvSpPr>
        <p:spPr>
          <a:xfrm>
            <a:off x="6613855" y="3639312"/>
            <a:ext cx="49377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F1E3D">
                <a:alpha val="14000"/>
              </a:srgbClr>
            </a:outerShdw>
          </a:effectLst>
        </p:spPr>
      </p:sp>
      <p:pic>
        <p:nvPicPr>
          <p:cNvPr id="21" name="Use icon 2" descr="U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8175" y="3867912"/>
            <a:ext cx="256032" cy="256032"/>
          </a:xfrm>
          <a:prstGeom prst="rect">
            <a:avLst/>
          </a:prstGeom>
        </p:spPr>
      </p:pic>
      <p:sp>
        <p:nvSpPr>
          <p:cNvPr id="22" name="Try 2"/>
          <p:cNvSpPr txBox="1"/>
          <p:nvPr/>
        </p:nvSpPr>
        <p:spPr>
          <a:xfrm>
            <a:off x="7345375" y="363931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“I’m seeing a gap in validation; let’s verify it.”</a:t>
            </a:r>
            <a:endParaRPr lang="en-US" sz="1600" dirty="0"/>
          </a:p>
        </p:txBody>
      </p:sp>
      <p:sp>
        <p:nvSpPr>
          <p:cNvPr id="23" name="Instead card 3"/>
          <p:cNvSpPr/>
          <p:nvPr/>
        </p:nvSpPr>
        <p:spPr>
          <a:xfrm>
            <a:off x="640080" y="4507992"/>
            <a:ext cx="49377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F1E3D">
                <a:alpha val="14000"/>
              </a:srgbClr>
            </a:outerShdw>
          </a:effectLst>
        </p:spPr>
      </p:sp>
      <p:pic>
        <p:nvPicPr>
          <p:cNvPr id="24" name="Avoid icon 3" descr="Avoi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745736"/>
            <a:ext cx="237744" cy="237744"/>
          </a:xfrm>
          <a:prstGeom prst="rect">
            <a:avLst/>
          </a:prstGeom>
        </p:spPr>
      </p:pic>
      <p:sp>
        <p:nvSpPr>
          <p:cNvPr id="25" name="Instead 3"/>
          <p:cNvSpPr txBox="1"/>
          <p:nvPr/>
        </p:nvSpPr>
        <p:spPr>
          <a:xfrm>
            <a:off x="1371600" y="450799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“I told you this would happen.”</a:t>
            </a:r>
            <a:endParaRPr lang="en-US" sz="1600" dirty="0"/>
          </a:p>
        </p:txBody>
      </p:sp>
      <p:pic>
        <p:nvPicPr>
          <p:cNvPr id="26" name="Arrow icon 3" descr="Becom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1256" y="4700016"/>
            <a:ext cx="329184" cy="329184"/>
          </a:xfrm>
          <a:prstGeom prst="rect">
            <a:avLst/>
          </a:prstGeom>
        </p:spPr>
      </p:pic>
      <p:sp>
        <p:nvSpPr>
          <p:cNvPr id="27" name="Try card 3"/>
          <p:cNvSpPr/>
          <p:nvPr/>
        </p:nvSpPr>
        <p:spPr>
          <a:xfrm>
            <a:off x="6613855" y="4507992"/>
            <a:ext cx="49377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F1E3D">
                <a:alpha val="14000"/>
              </a:srgbClr>
            </a:outerShdw>
          </a:effectLst>
        </p:spPr>
      </p:sp>
      <p:pic>
        <p:nvPicPr>
          <p:cNvPr id="28" name="Use icon 3" descr="Us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8175" y="4736592"/>
            <a:ext cx="256032" cy="256032"/>
          </a:xfrm>
          <a:prstGeom prst="rect">
            <a:avLst/>
          </a:prstGeom>
        </p:spPr>
      </p:pic>
      <p:sp>
        <p:nvSpPr>
          <p:cNvPr id="29" name="Try 3"/>
          <p:cNvSpPr txBox="1"/>
          <p:nvPr/>
        </p:nvSpPr>
        <p:spPr>
          <a:xfrm>
            <a:off x="7345375" y="450799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“What can we learn and change for next time?”</a:t>
            </a:r>
            <a:endParaRPr lang="en-US" sz="1600" dirty="0"/>
          </a:p>
        </p:txBody>
      </p:sp>
      <p:pic>
        <p:nvPicPr>
          <p:cNvPr id="30" name="Principle icon" descr="Principl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5559552"/>
            <a:ext cx="384048" cy="384048"/>
          </a:xfrm>
          <a:prstGeom prst="rect">
            <a:avLst/>
          </a:prstGeom>
        </p:spPr>
      </p:pic>
      <p:sp>
        <p:nvSpPr>
          <p:cNvPr id="31" name="Principle"/>
          <p:cNvSpPr txBox="1"/>
          <p:nvPr/>
        </p:nvSpPr>
        <p:spPr>
          <a:xfrm>
            <a:off x="1234440" y="5486400"/>
            <a:ext cx="103171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PRINCIPLE: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Be direct about the issue and generous about people’s intentions.</a:t>
            </a:r>
            <a:endParaRPr lang="en-US" sz="1800" dirty="0"/>
          </a:p>
        </p:txBody>
      </p:sp>
      <p:sp>
        <p:nvSpPr>
          <p:cNvPr id="32" name="Page label"/>
          <p:cNvSpPr txBox="1"/>
          <p:nvPr/>
        </p:nvSpPr>
        <p:spPr>
          <a:xfrm>
            <a:off x="10908792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chemeClr val="accent1"/>
                </a:solidFill>
              </a:rPr>
              <a:t>09 / BUILD THE CULTURE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04672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Speaking up works best when leaders respond well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536192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Individual courage starts the conversation; team habits determine whether it continues.</a:t>
            </a:r>
            <a:endParaRPr lang="en-US" sz="1600" dirty="0"/>
          </a:p>
        </p:txBody>
      </p:sp>
      <p:sp>
        <p:nvSpPr>
          <p:cNvPr id="5" name="Role card 1"/>
          <p:cNvSpPr/>
          <p:nvPr/>
        </p:nvSpPr>
        <p:spPr>
          <a:xfrm>
            <a:off x="640080" y="2240280"/>
            <a:ext cx="3454298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F1E3D">
                <a:alpha val="14000"/>
              </a:srgbClr>
            </a:outerShdw>
          </a:effectLst>
        </p:spPr>
      </p:sp>
      <p:sp>
        <p:nvSpPr>
          <p:cNvPr id="6" name="Role 1 circle"/>
          <p:cNvSpPr/>
          <p:nvPr/>
        </p:nvSpPr>
        <p:spPr>
          <a:xfrm>
            <a:off x="1005840" y="2606040"/>
            <a:ext cx="731520" cy="731520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7" name="Role 1 icon" descr="Rol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350" y="2803550"/>
            <a:ext cx="336499" cy="336499"/>
          </a:xfrm>
          <a:prstGeom prst="rect">
            <a:avLst/>
          </a:prstGeom>
        </p:spPr>
      </p:pic>
      <p:sp>
        <p:nvSpPr>
          <p:cNvPr id="8" name="Role 1 title"/>
          <p:cNvSpPr txBox="1"/>
          <p:nvPr/>
        </p:nvSpPr>
        <p:spPr>
          <a:xfrm>
            <a:off x="1005840" y="3520440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LEADERS</a:t>
            </a:r>
            <a:endParaRPr lang="en-US" sz="1800" dirty="0"/>
          </a:p>
        </p:txBody>
      </p:sp>
      <p:sp>
        <p:nvSpPr>
          <p:cNvPr id="9" name="Role 1 text"/>
          <p:cNvSpPr txBox="1"/>
          <p:nvPr/>
        </p:nvSpPr>
        <p:spPr>
          <a:xfrm>
            <a:off x="1005840" y="402336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Thank the person who raises a concern. Ask what evidence would change the decision.</a:t>
            </a:r>
            <a:endParaRPr lang="en-US" sz="1500" dirty="0"/>
          </a:p>
        </p:txBody>
      </p:sp>
      <p:sp>
        <p:nvSpPr>
          <p:cNvPr id="10" name="Role card 2"/>
          <p:cNvSpPr/>
          <p:nvPr/>
        </p:nvSpPr>
        <p:spPr>
          <a:xfrm>
            <a:off x="4368698" y="2240280"/>
            <a:ext cx="3454298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F1E3D">
                <a:alpha val="14000"/>
              </a:srgbClr>
            </a:outerShdw>
          </a:effectLst>
        </p:spPr>
      </p:sp>
      <p:sp>
        <p:nvSpPr>
          <p:cNvPr id="11" name="Role 2 circle"/>
          <p:cNvSpPr/>
          <p:nvPr/>
        </p:nvSpPr>
        <p:spPr>
          <a:xfrm>
            <a:off x="4734458" y="2606040"/>
            <a:ext cx="731520" cy="731520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12" name="Role 2 icon" descr="Rol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969" y="2803550"/>
            <a:ext cx="336499" cy="336499"/>
          </a:xfrm>
          <a:prstGeom prst="rect">
            <a:avLst/>
          </a:prstGeom>
        </p:spPr>
      </p:pic>
      <p:sp>
        <p:nvSpPr>
          <p:cNvPr id="13" name="Role 2 title"/>
          <p:cNvSpPr txBox="1"/>
          <p:nvPr/>
        </p:nvSpPr>
        <p:spPr>
          <a:xfrm>
            <a:off x="4734458" y="3520440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TEAMMATES</a:t>
            </a:r>
            <a:endParaRPr lang="en-US" sz="1800" dirty="0"/>
          </a:p>
        </p:txBody>
      </p:sp>
      <p:sp>
        <p:nvSpPr>
          <p:cNvPr id="14" name="Role 2 text"/>
          <p:cNvSpPr txBox="1"/>
          <p:nvPr/>
        </p:nvSpPr>
        <p:spPr>
          <a:xfrm>
            <a:off x="4734458" y="402336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Listen fully. Ask clarifying questions. Don’t punish respectful dissent.</a:t>
            </a:r>
            <a:endParaRPr lang="en-US" sz="1500" dirty="0"/>
          </a:p>
        </p:txBody>
      </p:sp>
      <p:sp>
        <p:nvSpPr>
          <p:cNvPr id="15" name="Role card 3"/>
          <p:cNvSpPr/>
          <p:nvPr/>
        </p:nvSpPr>
        <p:spPr>
          <a:xfrm>
            <a:off x="8097317" y="2240280"/>
            <a:ext cx="3454298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F1E3D">
                <a:alpha val="14000"/>
              </a:srgbClr>
            </a:outerShdw>
          </a:effectLst>
        </p:spPr>
      </p:sp>
      <p:sp>
        <p:nvSpPr>
          <p:cNvPr id="16" name="Role 3 circle"/>
          <p:cNvSpPr/>
          <p:nvPr/>
        </p:nvSpPr>
        <p:spPr>
          <a:xfrm>
            <a:off x="8463077" y="2606040"/>
            <a:ext cx="731520" cy="731520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17" name="Role 3 icon" descr="Rol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0587" y="2803550"/>
            <a:ext cx="336499" cy="336499"/>
          </a:xfrm>
          <a:prstGeom prst="rect">
            <a:avLst/>
          </a:prstGeom>
        </p:spPr>
      </p:pic>
      <p:sp>
        <p:nvSpPr>
          <p:cNvPr id="18" name="Role 3 title"/>
          <p:cNvSpPr txBox="1"/>
          <p:nvPr/>
        </p:nvSpPr>
        <p:spPr>
          <a:xfrm>
            <a:off x="8463077" y="3520440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</a:t>
            </a:r>
            <a:endParaRPr lang="en-US" sz="1800" dirty="0"/>
          </a:p>
        </p:txBody>
      </p:sp>
      <p:sp>
        <p:nvSpPr>
          <p:cNvPr id="19" name="Role 3 text"/>
          <p:cNvSpPr txBox="1"/>
          <p:nvPr/>
        </p:nvSpPr>
        <p:spPr>
          <a:xfrm>
            <a:off x="8463077" y="402336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Make it normal to run pre-mortems, document risks and revisit assumptions.</a:t>
            </a:r>
            <a:endParaRPr lang="en-US" sz="1500" dirty="0"/>
          </a:p>
        </p:txBody>
      </p:sp>
      <p:sp>
        <p:nvSpPr>
          <p:cNvPr id="20" name="Safety banner"/>
          <p:cNvSpPr/>
          <p:nvPr/>
        </p:nvSpPr>
        <p:spPr>
          <a:xfrm>
            <a:off x="640080" y="5349240"/>
            <a:ext cx="10911535" cy="777240"/>
          </a:xfrm>
          <a:prstGeom prst="roundRect">
            <a:avLst>
              <a:gd name="adj" fmla="val 14118"/>
            </a:avLst>
          </a:prstGeom>
          <a:solidFill>
            <a:srgbClr val="0F1E3D"/>
          </a:solidFill>
          <a:ln/>
        </p:spPr>
      </p:sp>
      <p:sp>
        <p:nvSpPr>
          <p:cNvPr id="21" name="Safety takeaway"/>
          <p:cNvSpPr txBox="1"/>
          <p:nvPr/>
        </p:nvSpPr>
        <p:spPr>
          <a:xfrm>
            <a:off x="1005840" y="5349240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Psychological safety does not mean avoiding accountability. It means being able to raise issues without humiliation.</a:t>
            </a:r>
            <a:endParaRPr lang="en-US" sz="1600" dirty="0"/>
          </a:p>
        </p:txBody>
      </p:sp>
      <p:sp>
        <p:nvSpPr>
          <p:cNvPr id="22" name="Page label"/>
          <p:cNvSpPr txBox="1"/>
          <p:nvPr/>
        </p:nvSpPr>
        <p:spPr>
          <a:xfrm>
            <a:off x="10908792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chemeClr val="accent1"/>
                </a:solidFill>
              </a:rPr>
              <a:t>08 / WISDOM TO REMEMBER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04672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Courage is a team skill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536192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A good culture makes it safer to surface problems early.</a:t>
            </a:r>
            <a:endParaRPr lang="en-US" sz="1600" dirty="0"/>
          </a:p>
        </p:txBody>
      </p:sp>
      <p:sp>
        <p:nvSpPr>
          <p:cNvPr id="5" name="Truth card"/>
          <p:cNvSpPr/>
          <p:nvPr/>
        </p:nvSpPr>
        <p:spPr>
          <a:xfrm>
            <a:off x="640080" y="2286000"/>
            <a:ext cx="5577840" cy="3246120"/>
          </a:xfrm>
          <a:prstGeom prst="roundRect">
            <a:avLst>
              <a:gd name="adj" fmla="val 3380"/>
            </a:avLst>
          </a:prstGeom>
          <a:solidFill>
            <a:srgbClr val="22365F"/>
          </a:solidFill>
          <a:ln/>
        </p:spPr>
      </p:sp>
      <p:pic>
        <p:nvPicPr>
          <p:cNvPr id="6" name="Truth quote icon" descr="Quo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51760"/>
            <a:ext cx="384048" cy="384048"/>
          </a:xfrm>
          <a:prstGeom prst="rect">
            <a:avLst/>
          </a:prstGeom>
        </p:spPr>
      </p:pic>
      <p:sp>
        <p:nvSpPr>
          <p:cNvPr id="7" name="Truth quote"/>
          <p:cNvSpPr txBox="1"/>
          <p:nvPr/>
        </p:nvSpPr>
        <p:spPr>
          <a:xfrm>
            <a:off x="1051560" y="32004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truth will set you free.”</a:t>
            </a:r>
            <a:endParaRPr lang="en-US" sz="2800" dirty="0"/>
          </a:p>
        </p:txBody>
      </p:sp>
      <p:sp>
        <p:nvSpPr>
          <p:cNvPr id="8" name="Truth source"/>
          <p:cNvSpPr txBox="1"/>
          <p:nvPr/>
        </p:nvSpPr>
        <p:spPr>
          <a:xfrm>
            <a:off x="105156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— John 8:32 (biblical quotation)</a:t>
            </a:r>
            <a:endParaRPr lang="en-US" sz="1400" dirty="0"/>
          </a:p>
        </p:txBody>
      </p:sp>
      <p:sp>
        <p:nvSpPr>
          <p:cNvPr id="9" name="Truth text"/>
          <p:cNvSpPr txBox="1"/>
          <p:nvPr/>
        </p:nvSpPr>
        <p:spPr>
          <a:xfrm>
            <a:off x="1051560" y="44805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Truth is useful when it is paired with humility and responsibility.</a:t>
            </a:r>
            <a:endParaRPr lang="en-US" sz="1600" dirty="0"/>
          </a:p>
        </p:txBody>
      </p:sp>
      <p:sp>
        <p:nvSpPr>
          <p:cNvPr id="10" name="Proverb card"/>
          <p:cNvSpPr/>
          <p:nvPr/>
        </p:nvSpPr>
        <p:spPr>
          <a:xfrm>
            <a:off x="6537960" y="2103120"/>
            <a:ext cx="5013655" cy="3611880"/>
          </a:xfrm>
          <a:prstGeom prst="roundRect">
            <a:avLst>
              <a:gd name="adj" fmla="val 3038"/>
            </a:avLst>
          </a:prstGeom>
          <a:solidFill>
            <a:srgbClr val="B8965A"/>
          </a:solidFill>
          <a:ln/>
        </p:spPr>
      </p:sp>
      <p:sp>
        <p:nvSpPr>
          <p:cNvPr id="11" name="Proverb label"/>
          <p:cNvSpPr txBox="1"/>
          <p:nvPr/>
        </p:nvSpPr>
        <p:spPr>
          <a:xfrm>
            <a:off x="699516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tx1"/>
                </a:solidFill>
              </a:rPr>
              <a:t>PROVERB</a:t>
            </a:r>
            <a:endParaRPr lang="en-US" sz="1300" dirty="0"/>
          </a:p>
        </p:txBody>
      </p:sp>
      <p:pic>
        <p:nvPicPr>
          <p:cNvPr id="12" name="Proverb icon" descr="Needle and thre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2377440"/>
            <a:ext cx="640080" cy="640080"/>
          </a:xfrm>
          <a:prstGeom prst="rect">
            <a:avLst/>
          </a:prstGeom>
        </p:spPr>
      </p:pic>
      <p:sp>
        <p:nvSpPr>
          <p:cNvPr id="13" name="Proverb"/>
          <p:cNvSpPr txBox="1"/>
          <p:nvPr/>
        </p:nvSpPr>
        <p:spPr>
          <a:xfrm>
            <a:off x="6995160" y="3017520"/>
            <a:ext cx="4099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stitch in time saves nine.”</a:t>
            </a:r>
            <a:endParaRPr lang="en-US" sz="3800" dirty="0"/>
          </a:p>
        </p:txBody>
      </p:sp>
      <p:sp>
        <p:nvSpPr>
          <p:cNvPr id="14" name="Proverb meaning"/>
          <p:cNvSpPr txBox="1"/>
          <p:nvPr/>
        </p:nvSpPr>
        <p:spPr>
          <a:xfrm>
            <a:off x="6995160" y="4800600"/>
            <a:ext cx="4099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Small, early fixes prevent bigger failures.</a:t>
            </a:r>
            <a:endParaRPr lang="en-US" sz="1700" dirty="0"/>
          </a:p>
        </p:txBody>
      </p:sp>
      <p:sp>
        <p:nvSpPr>
          <p:cNvPr id="15" name="Attribution note"/>
          <p:cNvSpPr txBox="1"/>
          <p:nvPr/>
        </p:nvSpPr>
        <p:spPr>
          <a:xfrm>
            <a:off x="640080" y="58978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Commonly attributed to Ambrose Redmoon; attribution is disputed.</a:t>
            </a:r>
            <a:endParaRPr lang="en-US" sz="1100" dirty="0"/>
          </a:p>
        </p:txBody>
      </p:sp>
      <p:sp>
        <p:nvSpPr>
          <p:cNvPr id="16" name="Page label"/>
          <p:cNvSpPr txBox="1"/>
          <p:nvPr/>
        </p:nvSpPr>
        <p:spPr>
          <a:xfrm>
            <a:off x="10908792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chemeClr val="accent1"/>
                </a:solidFill>
              </a:rPr>
              <a:t>11 / CLOSE WITH ACTION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04672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time you disagree…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536192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Make your voice useful, not merely loud.</a:t>
            </a:r>
            <a:endParaRPr lang="en-US" sz="1600" dirty="0"/>
          </a:p>
        </p:txBody>
      </p:sp>
      <p:sp>
        <p:nvSpPr>
          <p:cNvPr id="5" name="Action card 01"/>
          <p:cNvSpPr/>
          <p:nvPr/>
        </p:nvSpPr>
        <p:spPr>
          <a:xfrm>
            <a:off x="640080" y="2194560"/>
            <a:ext cx="3454298" cy="2377440"/>
          </a:xfrm>
          <a:prstGeom prst="roundRect">
            <a:avLst>
              <a:gd name="adj" fmla="val 4615"/>
            </a:avLst>
          </a:prstGeom>
          <a:solidFill>
            <a:srgbClr val="22365F"/>
          </a:solidFill>
          <a:ln/>
        </p:spPr>
      </p:sp>
      <p:sp>
        <p:nvSpPr>
          <p:cNvPr id="6" name="Action 01 circle"/>
          <p:cNvSpPr/>
          <p:nvPr/>
        </p:nvSpPr>
        <p:spPr>
          <a:xfrm>
            <a:off x="1005840" y="2560320"/>
            <a:ext cx="658368" cy="658368"/>
          </a:xfrm>
          <a:prstGeom prst="ellipse">
            <a:avLst/>
          </a:prstGeom>
          <a:solidFill>
            <a:srgbClr val="B8965A"/>
          </a:solidFill>
          <a:ln/>
        </p:spPr>
      </p:sp>
      <p:pic>
        <p:nvPicPr>
          <p:cNvPr id="7" name="Action 01 icon" descr="Action 0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3599" y="2738079"/>
            <a:ext cx="302849" cy="302849"/>
          </a:xfrm>
          <a:prstGeom prst="rect">
            <a:avLst/>
          </a:prstGeom>
        </p:spPr>
      </p:pic>
      <p:sp>
        <p:nvSpPr>
          <p:cNvPr id="8" name="Action 01 number"/>
          <p:cNvSpPr txBox="1"/>
          <p:nvPr/>
        </p:nvSpPr>
        <p:spPr>
          <a:xfrm>
            <a:off x="2997098" y="2560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Action 01 title"/>
          <p:cNvSpPr txBox="1"/>
          <p:nvPr/>
        </p:nvSpPr>
        <p:spPr>
          <a:xfrm>
            <a:off x="1005840" y="333756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</a:t>
            </a:r>
            <a:endParaRPr lang="en-US" sz="2600" dirty="0"/>
          </a:p>
        </p:txBody>
      </p:sp>
      <p:sp>
        <p:nvSpPr>
          <p:cNvPr id="10" name="Action 01 question"/>
          <p:cNvSpPr txBox="1"/>
          <p:nvPr/>
        </p:nvSpPr>
        <p:spPr>
          <a:xfrm>
            <a:off x="1005840" y="3794760"/>
            <a:ext cx="27227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What is the shared goal?</a:t>
            </a:r>
            <a:endParaRPr lang="en-US" sz="1500" dirty="0"/>
          </a:p>
        </p:txBody>
      </p:sp>
      <p:sp>
        <p:nvSpPr>
          <p:cNvPr id="11" name="Action card 02"/>
          <p:cNvSpPr/>
          <p:nvPr/>
        </p:nvSpPr>
        <p:spPr>
          <a:xfrm>
            <a:off x="4368698" y="2194560"/>
            <a:ext cx="3454298" cy="2377440"/>
          </a:xfrm>
          <a:prstGeom prst="roundRect">
            <a:avLst>
              <a:gd name="adj" fmla="val 4615"/>
            </a:avLst>
          </a:prstGeom>
          <a:solidFill>
            <a:srgbClr val="22365F"/>
          </a:solidFill>
          <a:ln/>
        </p:spPr>
      </p:sp>
      <p:sp>
        <p:nvSpPr>
          <p:cNvPr id="12" name="Action 02 circle"/>
          <p:cNvSpPr/>
          <p:nvPr/>
        </p:nvSpPr>
        <p:spPr>
          <a:xfrm>
            <a:off x="4734458" y="2560320"/>
            <a:ext cx="658368" cy="658368"/>
          </a:xfrm>
          <a:prstGeom prst="ellipse">
            <a:avLst/>
          </a:prstGeom>
          <a:solidFill>
            <a:srgbClr val="B8965A"/>
          </a:solidFill>
          <a:ln/>
        </p:spPr>
      </p:sp>
      <p:pic>
        <p:nvPicPr>
          <p:cNvPr id="13" name="Action 02 icon" descr="Action 0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218" y="2738079"/>
            <a:ext cx="302849" cy="302849"/>
          </a:xfrm>
          <a:prstGeom prst="rect">
            <a:avLst/>
          </a:prstGeom>
        </p:spPr>
      </p:pic>
      <p:sp>
        <p:nvSpPr>
          <p:cNvPr id="14" name="Action 02 number"/>
          <p:cNvSpPr txBox="1"/>
          <p:nvPr/>
        </p:nvSpPr>
        <p:spPr>
          <a:xfrm>
            <a:off x="6725717" y="2560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Action 02 title"/>
          <p:cNvSpPr txBox="1"/>
          <p:nvPr/>
        </p:nvSpPr>
        <p:spPr>
          <a:xfrm>
            <a:off x="4734458" y="333756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</a:t>
            </a:r>
            <a:endParaRPr lang="en-US" sz="2600" dirty="0"/>
          </a:p>
        </p:txBody>
      </p:sp>
      <p:sp>
        <p:nvSpPr>
          <p:cNvPr id="16" name="Action 02 question"/>
          <p:cNvSpPr txBox="1"/>
          <p:nvPr/>
        </p:nvSpPr>
        <p:spPr>
          <a:xfrm>
            <a:off x="4734458" y="3794760"/>
            <a:ext cx="27227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What do I know, and what needs checking?</a:t>
            </a:r>
            <a:endParaRPr lang="en-US" sz="1500" dirty="0"/>
          </a:p>
        </p:txBody>
      </p:sp>
      <p:sp>
        <p:nvSpPr>
          <p:cNvPr id="17" name="Action card 03"/>
          <p:cNvSpPr/>
          <p:nvPr/>
        </p:nvSpPr>
        <p:spPr>
          <a:xfrm>
            <a:off x="8097317" y="2194560"/>
            <a:ext cx="3454298" cy="2377440"/>
          </a:xfrm>
          <a:prstGeom prst="roundRect">
            <a:avLst>
              <a:gd name="adj" fmla="val 4615"/>
            </a:avLst>
          </a:prstGeom>
          <a:solidFill>
            <a:srgbClr val="22365F"/>
          </a:solidFill>
          <a:ln/>
        </p:spPr>
      </p:sp>
      <p:sp>
        <p:nvSpPr>
          <p:cNvPr id="18" name="Action 03 circle"/>
          <p:cNvSpPr/>
          <p:nvPr/>
        </p:nvSpPr>
        <p:spPr>
          <a:xfrm>
            <a:off x="8463077" y="2560320"/>
            <a:ext cx="658368" cy="658368"/>
          </a:xfrm>
          <a:prstGeom prst="ellipse">
            <a:avLst/>
          </a:prstGeom>
          <a:solidFill>
            <a:srgbClr val="B8965A"/>
          </a:solidFill>
          <a:ln/>
        </p:spPr>
      </p:sp>
      <p:pic>
        <p:nvPicPr>
          <p:cNvPr id="19" name="Action 03 icon" descr="Action 0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836" y="2738079"/>
            <a:ext cx="302849" cy="302849"/>
          </a:xfrm>
          <a:prstGeom prst="rect">
            <a:avLst/>
          </a:prstGeom>
        </p:spPr>
      </p:pic>
      <p:sp>
        <p:nvSpPr>
          <p:cNvPr id="20" name="Action 03 number"/>
          <p:cNvSpPr txBox="1"/>
          <p:nvPr/>
        </p:nvSpPr>
        <p:spPr>
          <a:xfrm>
            <a:off x="10454335" y="2560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Action 03 title"/>
          <p:cNvSpPr txBox="1"/>
          <p:nvPr/>
        </p:nvSpPr>
        <p:spPr>
          <a:xfrm>
            <a:off x="8463077" y="333756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</a:t>
            </a:r>
            <a:endParaRPr lang="en-US" sz="2600" dirty="0"/>
          </a:p>
        </p:txBody>
      </p:sp>
      <p:sp>
        <p:nvSpPr>
          <p:cNvPr id="22" name="Action 03 question"/>
          <p:cNvSpPr txBox="1"/>
          <p:nvPr/>
        </p:nvSpPr>
        <p:spPr>
          <a:xfrm>
            <a:off x="8463077" y="3794760"/>
            <a:ext cx="27227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What is the safest next step?</a:t>
            </a:r>
            <a:endParaRPr lang="en-US" sz="1500" dirty="0"/>
          </a:p>
        </p:txBody>
      </p:sp>
      <p:sp>
        <p:nvSpPr>
          <p:cNvPr id="23" name="Integrity banner"/>
          <p:cNvSpPr/>
          <p:nvPr/>
        </p:nvSpPr>
        <p:spPr>
          <a:xfrm>
            <a:off x="640080" y="4846320"/>
            <a:ext cx="10911535" cy="777240"/>
          </a:xfrm>
          <a:prstGeom prst="roundRect">
            <a:avLst>
              <a:gd name="adj" fmla="val 14118"/>
            </a:avLst>
          </a:prstGeom>
          <a:solidFill>
            <a:srgbClr val="B8965A"/>
          </a:solidFill>
          <a:ln/>
        </p:spPr>
      </p:sp>
      <p:sp>
        <p:nvSpPr>
          <p:cNvPr id="24" name="Integrity quote"/>
          <p:cNvSpPr txBox="1"/>
          <p:nvPr/>
        </p:nvSpPr>
        <p:spPr>
          <a:xfrm>
            <a:off x="914400" y="48463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“Integrity is doing the right thing, even when it’s not easy.”</a:t>
            </a:r>
            <a:endParaRPr lang="en-US" sz="2200" dirty="0"/>
          </a:p>
        </p:txBody>
      </p:sp>
      <p:sp>
        <p:nvSpPr>
          <p:cNvPr id="25" name="Thank you"/>
          <p:cNvSpPr txBox="1"/>
          <p:nvPr/>
        </p:nvSpPr>
        <p:spPr>
          <a:xfrm>
            <a:off x="640080" y="578815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chemeClr val="bg1"/>
                </a:solidFill>
              </a:rPr>
              <a:t>THANK YOU  •  QUESTIONS / DISCUSSION</a:t>
            </a:r>
            <a:endParaRPr lang="en-US" sz="1500" dirty="0"/>
          </a:p>
        </p:txBody>
      </p:sp>
      <p:sp>
        <p:nvSpPr>
          <p:cNvPr id="26" name="Page label"/>
          <p:cNvSpPr txBox="1"/>
          <p:nvPr/>
        </p:nvSpPr>
        <p:spPr>
          <a:xfrm>
            <a:off x="10908792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vy Gold Integrity">
  <a:themeElements>
    <a:clrScheme name="Navy Gold Integrity">
      <a:dk1>
        <a:srgbClr val="0F1E3D"/>
      </a:dk1>
      <a:lt1>
        <a:srgbClr val="FFFFFF"/>
      </a:lt1>
      <a:dk2>
        <a:srgbClr val="1C2E55"/>
      </a:dk2>
      <a:lt2>
        <a:srgbClr val="F8F5EF"/>
      </a:lt2>
      <a:accent1>
        <a:srgbClr val="B8965A"/>
      </a:accent1>
      <a:accent2>
        <a:srgbClr val="EFE6D4"/>
      </a:accent2>
      <a:accent3>
        <a:srgbClr val="22365F"/>
      </a:accent3>
      <a:accent4>
        <a:srgbClr val="5E6A82"/>
      </a:accent4>
      <a:accent5>
        <a:srgbClr val="C9D1DF"/>
      </a:accent5>
      <a:accent6>
        <a:srgbClr val="D8C29A"/>
      </a:accent6>
      <a:hlink>
        <a:srgbClr val="B8965A"/>
      </a:hlink>
      <a:folHlink>
        <a:srgbClr val="5E6A82"/>
      </a:folHlink>
    </a:clrScheme>
    <a:fontScheme name="Navy Gold Integrit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Power of Speaking Up</dc:title>
  <dc:subject>PptxGenJS Presentation</dc:subject>
  <dc:creator>PptxGenJS</dc:creator>
  <cp:lastModifiedBy>PptxGenJS</cp:lastModifiedBy>
  <cp:revision>1</cp:revision>
  <dcterms:created xsi:type="dcterms:W3CDTF">2026-10-26T07:18:35Z</dcterms:created>
  <dcterms:modified xsi:type="dcterms:W3CDTF">2026-10-26T07:18:35Z</dcterms:modified>
</cp:coreProperties>
</file>