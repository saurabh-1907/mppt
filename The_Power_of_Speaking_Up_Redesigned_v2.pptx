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fbaebce-1af1-e288-2cab-6bb6c3c743f8}">
          <p14:sldIdLst>
            <p14:sldId id="256"/>
          </p14:sldIdLst>
        </p14:section>
        <p14:section name="Engage" id="{23145534-747f-aa35-222e-3d14cc12a4bb}">
          <p14:sldIdLst>
            <p14:sldId id="257"/>
            <p14:sldId id="258"/>
          </p14:sldIdLst>
        </p14:section>
        <p14:section name="Framework" id="{0de0b43d-f139-12ea-c4e4-2224dffa33aa}">
          <p14:sldIdLst>
            <p14:sldId id="259"/>
            <p14:sldId id="260"/>
          </p14:sldIdLst>
        </p14:section>
        <p14:section name="Practice" id="{576bdb48-5630-0c52-0222-a43a8e45ea3b}">
          <p14:sldIdLst>
            <p14:sldId id="261"/>
            <p14:sldId id="262"/>
          </p14:sldIdLst>
        </p14:section>
        <p14:section name="Culture" id="{e8b1fb4f-432b-8e87-1789-92d165adccde}">
          <p14:sldIdLst>
            <p14:sldId id="263"/>
            <p14:sldId id="264"/>
          </p14:sldIdLst>
        </p14:section>
        <p14:section name="Close" id="{d7d1235d-d90b-8281-ced7-c1ce029ace4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Ask the audience to think of a time when they noticed a risk but hesitated to speak. Do not ask for names or sensitive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the two options. Invite 2–3 responses. Emphasise that speaking up is about improving decisions, not proving someone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 or a quick chat response. Let the room answer before presenting the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behaviours. Explain that courage without evidence can sound like opinion; evidence without respect can sound like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is fictional/composite. Keep focus on the observable data freshness signal and the value of a short validation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FACT structure slowly. Invite participants to repeat or adapt the wording to their own work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pair aloud and ask which version is more likely to be heard. Clarify that respectful language should not dilute urgency when risk is serious.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speaking up is a two-way responsibility: individuals raise concerns and leaders respond constructively.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Quotation note: The first quotation is biblical. The courage quotation is commonly attributed to Ambrose Redmoon, but attribution is disputed; it is labeled accordingly.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commitment: each person chooses one phrase they can use in their next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72865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865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1072865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4"/>
                </a:solidFill>
              </a:rPr>
              <a:t>SPEAKING UP WITH INTEGRITY  •  POST-ASSESSMENT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871697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8716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871697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</a:rPr>
              <a:t>SPEAKING UP WITH INTEGRITY  •  POST-ASSESSMENT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_LIGHT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53949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5394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53949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4"/>
                </a:solidFill>
              </a:rPr>
              <a:t>SPEAKING UP WITH INTEGRITY  •  POST-ASSESSMENT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14400"/>
            <a:ext cx="65836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371600"/>
            <a:ext cx="6583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0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</a:rPr>
              <a:t>SPEAKING UP WITH INTEGRITY  •  POST-ASSESSMENT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9144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CAPGEMINI  |  POST-ASSESSMENT PRESENTATION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3716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of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 Up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Challenging group decisions with integrity</a:t>
            </a:r>
            <a:endParaRPr lang="en-US" sz="2400" dirty="0"/>
          </a:p>
        </p:txBody>
      </p:sp>
      <p:sp>
        <p:nvSpPr>
          <p:cNvPr id="5" name="Tagline"/>
          <p:cNvSpPr txBox="1"/>
          <p:nvPr/>
        </p:nvSpPr>
        <p:spPr>
          <a:xfrm>
            <a:off x="731520" y="422452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How to disagree respectfully, protect outcomes,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and build trust when it matters most.</a:t>
            </a:r>
            <a:endParaRPr lang="en-US" sz="1700" dirty="0"/>
          </a:p>
        </p:txBody>
      </p:sp>
      <p:sp>
        <p:nvSpPr>
          <p:cNvPr id="6" name="Presenter rule"/>
          <p:cNvSpPr/>
          <p:nvPr/>
        </p:nvSpPr>
        <p:spPr>
          <a:xfrm>
            <a:off x="731520" y="5230368"/>
            <a:ext cx="5486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Presenter"/>
          <p:cNvSpPr txBox="1"/>
          <p:nvPr/>
        </p:nvSpPr>
        <p:spPr>
          <a:xfrm>
            <a:off x="731520" y="5349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Presented by-Maithili Debilal Thakre</a:t>
            </a:r>
            <a:endParaRPr lang="en-US" sz="1500" dirty="0"/>
          </a:p>
        </p:txBody>
      </p:sp>
      <p:sp>
        <p:nvSpPr>
          <p:cNvPr id="8" name="Organic shape"/>
          <p:cNvSpPr/>
          <p:nvPr/>
        </p:nvSpPr>
        <p:spPr>
          <a:xfrm>
            <a:off x="7818120" y="960120"/>
            <a:ext cx="3931920" cy="4480560"/>
          </a:xfrm>
          <a:custGeom>
            <a:avLst/>
            <a:gdLst/>
            <a:ahLst/>
            <a:cxnLst/>
            <a:rect l="l" t="t" r="r" b="b"/>
            <a:pathLst>
              <a:path w="3931920" h="4480560">
                <a:moveTo>
                  <a:pt x="1965960" y="89611"/>
                </a:moveTo>
                <a:cubicBezTo>
                  <a:pt x="2265769" y="79911"/>
                  <a:pt x="2602045" y="260462"/>
                  <a:pt x="2880131" y="435950"/>
                </a:cubicBezTo>
                <a:cubicBezTo>
                  <a:pt x="3158218" y="611439"/>
                  <a:pt x="3491948" y="841821"/>
                  <a:pt x="3634480" y="1142543"/>
                </a:cubicBezTo>
                <a:cubicBezTo>
                  <a:pt x="3777012" y="1443264"/>
                  <a:pt x="3775051" y="1900504"/>
                  <a:pt x="3735324" y="2240280"/>
                </a:cubicBezTo>
                <a:cubicBezTo>
                  <a:pt x="3695597" y="2580056"/>
                  <a:pt x="3540290" y="2883710"/>
                  <a:pt x="3396120" y="3181198"/>
                </a:cubicBezTo>
                <a:cubicBezTo>
                  <a:pt x="3251949" y="3478686"/>
                  <a:pt x="3108662" y="3812382"/>
                  <a:pt x="2870302" y="4025208"/>
                </a:cubicBezTo>
                <a:cubicBezTo>
                  <a:pt x="2631942" y="4238035"/>
                  <a:pt x="2272322" y="4448457"/>
                  <a:pt x="1965960" y="4458157"/>
                </a:cubicBezTo>
                <a:cubicBezTo>
                  <a:pt x="1659598" y="4467858"/>
                  <a:pt x="1281839" y="4288771"/>
                  <a:pt x="1032129" y="4083412"/>
                </a:cubicBezTo>
                <a:cubicBezTo>
                  <a:pt x="782419" y="3878053"/>
                  <a:pt x="620059" y="3533192"/>
                  <a:pt x="467697" y="3226003"/>
                </a:cubicBezTo>
                <a:cubicBezTo>
                  <a:pt x="315335" y="2918814"/>
                  <a:pt x="152009" y="2591257"/>
                  <a:pt x="117958" y="2240280"/>
                </a:cubicBezTo>
                <a:cubicBezTo>
                  <a:pt x="83906" y="1889303"/>
                  <a:pt x="102835" y="1411161"/>
                  <a:pt x="263389" y="1120140"/>
                </a:cubicBezTo>
                <a:cubicBezTo>
                  <a:pt x="423942" y="829119"/>
                  <a:pt x="797516" y="665909"/>
                  <a:pt x="1081278" y="494155"/>
                </a:cubicBezTo>
                <a:cubicBezTo>
                  <a:pt x="1365040" y="322400"/>
                  <a:pt x="1666151" y="99312"/>
                  <a:pt x="1965960" y="89611"/>
                </a:cubicBezTo>
                <a:close/>
              </a:path>
            </a:pathLst>
          </a:custGeom>
          <a:solidFill>
            <a:schemeClr val="accent3"/>
          </a:solidFill>
          <a:ln/>
        </p:spPr>
      </p:sp>
      <p:sp>
        <p:nvSpPr>
          <p:cNvPr id="9" name="Organic outline"/>
          <p:cNvSpPr/>
          <p:nvPr/>
        </p:nvSpPr>
        <p:spPr>
          <a:xfrm>
            <a:off x="7589520" y="777240"/>
            <a:ext cx="4343400" cy="4892040"/>
          </a:xfrm>
          <a:custGeom>
            <a:avLst/>
            <a:gdLst/>
            <a:ahLst/>
            <a:cxnLst/>
            <a:rect l="l" t="t" r="r" b="b"/>
            <a:pathLst>
              <a:path w="4343400" h="4892040">
                <a:moveTo>
                  <a:pt x="2171700" y="195682"/>
                </a:moveTo>
                <a:cubicBezTo>
                  <a:pt x="2526411" y="202743"/>
                  <a:pt x="2911517" y="220033"/>
                  <a:pt x="3224974" y="391254"/>
                </a:cubicBezTo>
                <a:cubicBezTo>
                  <a:pt x="3538432" y="562475"/>
                  <a:pt x="3891380" y="880549"/>
                  <a:pt x="4052447" y="1223010"/>
                </a:cubicBezTo>
                <a:cubicBezTo>
                  <a:pt x="4213515" y="1565471"/>
                  <a:pt x="4207054" y="2048542"/>
                  <a:pt x="4191381" y="2446020"/>
                </a:cubicBezTo>
                <a:cubicBezTo>
                  <a:pt x="4175708" y="2843498"/>
                  <a:pt x="4135766" y="3297193"/>
                  <a:pt x="3958410" y="3607879"/>
                </a:cubicBezTo>
                <a:cubicBezTo>
                  <a:pt x="3781055" y="3918566"/>
                  <a:pt x="3425033" y="4120571"/>
                  <a:pt x="3127248" y="4310138"/>
                </a:cubicBezTo>
                <a:cubicBezTo>
                  <a:pt x="2829463" y="4499704"/>
                  <a:pt x="2511933" y="4702912"/>
                  <a:pt x="2171700" y="4745279"/>
                </a:cubicBezTo>
                <a:cubicBezTo>
                  <a:pt x="1831467" y="4787645"/>
                  <a:pt x="1389904" y="4749825"/>
                  <a:pt x="1085850" y="4564335"/>
                </a:cubicBezTo>
                <a:cubicBezTo>
                  <a:pt x="781796" y="4378846"/>
                  <a:pt x="492155" y="3985392"/>
                  <a:pt x="347375" y="3632340"/>
                </a:cubicBezTo>
                <a:cubicBezTo>
                  <a:pt x="202595" y="3279287"/>
                  <a:pt x="210901" y="2837383"/>
                  <a:pt x="217170" y="2446020"/>
                </a:cubicBezTo>
                <a:cubicBezTo>
                  <a:pt x="223439" y="2054657"/>
                  <a:pt x="238400" y="1633683"/>
                  <a:pt x="384990" y="1284160"/>
                </a:cubicBezTo>
                <a:cubicBezTo>
                  <a:pt x="531580" y="934638"/>
                  <a:pt x="798923" y="530301"/>
                  <a:pt x="1096708" y="348888"/>
                </a:cubicBezTo>
                <a:cubicBezTo>
                  <a:pt x="1394494" y="167475"/>
                  <a:pt x="1816989" y="188621"/>
                  <a:pt x="2171700" y="195682"/>
                </a:cubicBezTo>
                <a:close/>
              </a:path>
            </a:pathLst>
          </a:custGeom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10" name="Megaphone illustration" descr="Megaphon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514600"/>
            <a:ext cx="1371600" cy="1371600"/>
          </a:xfrm>
          <a:prstGeom prst="rect">
            <a:avLst/>
          </a:prstGeom>
        </p:spPr>
      </p:pic>
      <p:sp>
        <p:nvSpPr>
          <p:cNvPr id="11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/ THE HOOK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you speak up if the room had already agreed?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Imagine the decision is popular, the deadline is close, and you see a risk no one has mentioned.</a:t>
            </a:r>
            <a:endParaRPr lang="en-US" sz="1600" dirty="0"/>
          </a:p>
        </p:txBody>
      </p:sp>
      <p:sp>
        <p:nvSpPr>
          <p:cNvPr id="5" name="Moment panel"/>
          <p:cNvSpPr/>
          <p:nvPr/>
        </p:nvSpPr>
        <p:spPr>
          <a:xfrm>
            <a:off x="731520" y="2240280"/>
            <a:ext cx="6309360" cy="3703320"/>
          </a:xfrm>
          <a:prstGeom prst="roundRect">
            <a:avLst>
              <a:gd name="adj" fmla="val 1481"/>
            </a:avLst>
          </a:prstGeom>
          <a:solidFill>
            <a:schemeClr val="accent2"/>
          </a:solidFill>
          <a:ln/>
        </p:spPr>
      </p:sp>
      <p:sp>
        <p:nvSpPr>
          <p:cNvPr id="6" name="Moment label"/>
          <p:cNvSpPr txBox="1"/>
          <p:nvPr/>
        </p:nvSpPr>
        <p:spPr>
          <a:xfrm>
            <a:off x="118872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MOMENT OF CHOICE</a:t>
            </a:r>
            <a:endParaRPr lang="en-US" sz="1100" dirty="0"/>
          </a:p>
        </p:txBody>
      </p:sp>
      <p:pic>
        <p:nvPicPr>
          <p:cNvPr id="7" name="Quote mark" descr="Quote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17520"/>
            <a:ext cx="548640" cy="548640"/>
          </a:xfrm>
          <a:prstGeom prst="rect">
            <a:avLst/>
          </a:prstGeom>
        </p:spPr>
      </p:pic>
      <p:sp>
        <p:nvSpPr>
          <p:cNvPr id="8" name="Moment quote"/>
          <p:cNvSpPr txBox="1"/>
          <p:nvPr/>
        </p:nvSpPr>
        <p:spPr>
          <a:xfrm>
            <a:off x="1188720" y="36576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don’t want to slow us down…</a:t>
            </a:r>
            <a:endParaRPr lang="en-US" sz="2700" dirty="0"/>
          </a:p>
          <a:p>
            <a:pPr indent="0" marL="0">
              <a:buNone/>
            </a:pPr>
            <a:r>
              <a:rPr lang="en-US" sz="27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what if we’re missing something?”</a:t>
            </a:r>
            <a:endParaRPr lang="en-US" sz="2700" dirty="0"/>
          </a:p>
        </p:txBody>
      </p:sp>
      <p:sp>
        <p:nvSpPr>
          <p:cNvPr id="9" name="Moment caption"/>
          <p:cNvSpPr txBox="1"/>
          <p:nvPr/>
        </p:nvSpPr>
        <p:spPr>
          <a:xfrm>
            <a:off x="118872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Silence feels easier. Speaking up may be safer.</a:t>
            </a:r>
            <a:endParaRPr lang="en-US" sz="1600" dirty="0"/>
          </a:p>
        </p:txBody>
      </p:sp>
      <p:pic>
        <p:nvPicPr>
          <p:cNvPr id="10" name="Option 1 icon" descr="Option 1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331720"/>
            <a:ext cx="457200" cy="457200"/>
          </a:xfrm>
          <a:prstGeom prst="rect">
            <a:avLst/>
          </a:prstGeom>
        </p:spPr>
      </p:pic>
      <p:sp>
        <p:nvSpPr>
          <p:cNvPr id="11" name="Option 1 title"/>
          <p:cNvSpPr txBox="1"/>
          <p:nvPr/>
        </p:nvSpPr>
        <p:spPr>
          <a:xfrm>
            <a:off x="7635240" y="2926080"/>
            <a:ext cx="3824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Stay silent</a:t>
            </a:r>
            <a:endParaRPr lang="en-US" sz="1900" dirty="0"/>
          </a:p>
        </p:txBody>
      </p:sp>
      <p:sp>
        <p:nvSpPr>
          <p:cNvPr id="12" name="Option 1 text"/>
          <p:cNvSpPr txBox="1"/>
          <p:nvPr/>
        </p:nvSpPr>
        <p:spPr>
          <a:xfrm>
            <a:off x="7635240" y="3383280"/>
            <a:ext cx="3824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Avoid tension now; risk a bigger problem later.</a:t>
            </a:r>
            <a:endParaRPr lang="en-US" sz="1500" dirty="0"/>
          </a:p>
        </p:txBody>
      </p:sp>
      <p:pic>
        <p:nvPicPr>
          <p:cNvPr id="13" name="Option 2 icon" descr="Option 2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251960"/>
            <a:ext cx="457200" cy="457200"/>
          </a:xfrm>
          <a:prstGeom prst="rect">
            <a:avLst/>
          </a:prstGeom>
        </p:spPr>
      </p:pic>
      <p:sp>
        <p:nvSpPr>
          <p:cNvPr id="14" name="Option 2 title"/>
          <p:cNvSpPr txBox="1"/>
          <p:nvPr/>
        </p:nvSpPr>
        <p:spPr>
          <a:xfrm>
            <a:off x="7635240" y="4846320"/>
            <a:ext cx="3824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Raise the concern</a:t>
            </a:r>
            <a:endParaRPr lang="en-US" sz="1900" dirty="0"/>
          </a:p>
        </p:txBody>
      </p:sp>
      <p:sp>
        <p:nvSpPr>
          <p:cNvPr id="15" name="Option 2 text"/>
          <p:cNvSpPr txBox="1"/>
          <p:nvPr/>
        </p:nvSpPr>
        <p:spPr>
          <a:xfrm>
            <a:off x="7635240" y="5303520"/>
            <a:ext cx="3824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Create a pause for evidence, alternatives and clarity.</a:t>
            </a:r>
            <a:endParaRPr lang="en-US" sz="1500" dirty="0"/>
          </a:p>
        </p:txBody>
      </p:sp>
      <p:sp>
        <p:nvSpPr>
          <p:cNvPr id="16" name="Divider"/>
          <p:cNvSpPr/>
          <p:nvPr/>
        </p:nvSpPr>
        <p:spPr>
          <a:xfrm>
            <a:off x="7635240" y="4069080"/>
            <a:ext cx="38249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/ QUICK AUDIENCE PULSE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before we begin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No perfect answers — the goal is to notice our default reactions.</a:t>
            </a:r>
            <a:endParaRPr lang="en-US" sz="1600" dirty="0"/>
          </a:p>
        </p:txBody>
      </p:sp>
      <p:sp>
        <p:nvSpPr>
          <p:cNvPr id="5" name="Question 01 number"/>
          <p:cNvSpPr txBox="1"/>
          <p:nvPr/>
        </p:nvSpPr>
        <p:spPr>
          <a:xfrm>
            <a:off x="731520" y="22860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Question 01"/>
          <p:cNvSpPr txBox="1"/>
          <p:nvPr/>
        </p:nvSpPr>
        <p:spPr>
          <a:xfrm>
            <a:off x="2148840" y="228600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ever agreed publicly while disagreeing privately?</a:t>
            </a:r>
            <a:endParaRPr lang="en-US" sz="2300" dirty="0"/>
          </a:p>
        </p:txBody>
      </p:sp>
      <p:sp>
        <p:nvSpPr>
          <p:cNvPr id="7" name="Divider"/>
          <p:cNvSpPr/>
          <p:nvPr/>
        </p:nvSpPr>
        <p:spPr>
          <a:xfrm>
            <a:off x="731520" y="3410712"/>
            <a:ext cx="86410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Question 02 number"/>
          <p:cNvSpPr txBox="1"/>
          <p:nvPr/>
        </p:nvSpPr>
        <p:spPr>
          <a:xfrm>
            <a:off x="731520" y="34747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Question 02"/>
          <p:cNvSpPr txBox="1"/>
          <p:nvPr/>
        </p:nvSpPr>
        <p:spPr>
          <a:xfrm>
            <a:off x="2148840" y="347472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people from speaking up: hierarchy, time, fear, or uncertainty?</a:t>
            </a:r>
            <a:endParaRPr lang="en-US" sz="2300" dirty="0"/>
          </a:p>
        </p:txBody>
      </p:sp>
      <p:sp>
        <p:nvSpPr>
          <p:cNvPr id="10" name="Divider"/>
          <p:cNvSpPr/>
          <p:nvPr/>
        </p:nvSpPr>
        <p:spPr>
          <a:xfrm>
            <a:off x="731520" y="4599432"/>
            <a:ext cx="864108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Question 03 number"/>
          <p:cNvSpPr txBox="1"/>
          <p:nvPr/>
        </p:nvSpPr>
        <p:spPr>
          <a:xfrm>
            <a:off x="731520" y="466344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Question 03"/>
          <p:cNvSpPr txBox="1"/>
          <p:nvPr/>
        </p:nvSpPr>
        <p:spPr>
          <a:xfrm>
            <a:off x="2148840" y="466344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earns more trust: instant agreement or respectful honesty?</a:t>
            </a:r>
            <a:endParaRPr lang="en-US" sz="2300" dirty="0"/>
          </a:p>
        </p:txBody>
      </p:sp>
      <p:pic>
        <p:nvPicPr>
          <p:cNvPr id="13" name="Conversation illustration" descr="Conversation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743200"/>
            <a:ext cx="1737360" cy="1737360"/>
          </a:xfrm>
          <a:prstGeom prst="rect">
            <a:avLst/>
          </a:prstGeom>
        </p:spPr>
      </p:pic>
      <p:sp>
        <p:nvSpPr>
          <p:cNvPr id="14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/ THE CORE IDEA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 up is not the same as being difficult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The aim is not to win an argument. It is to improve the decision.</a:t>
            </a:r>
            <a:endParaRPr lang="en-US" sz="1600" dirty="0"/>
          </a:p>
        </p:txBody>
      </p:sp>
      <p:pic>
        <p:nvPicPr>
          <p:cNvPr id="5" name="Courage icon" descr="Coura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77440"/>
            <a:ext cx="566928" cy="566928"/>
          </a:xfrm>
          <a:prstGeom prst="rect">
            <a:avLst/>
          </a:prstGeom>
        </p:spPr>
      </p:pic>
      <p:sp>
        <p:nvSpPr>
          <p:cNvPr id="6" name="Arrow 1"/>
          <p:cNvSpPr txBox="1"/>
          <p:nvPr/>
        </p:nvSpPr>
        <p:spPr>
          <a:xfrm>
            <a:off x="2727884" y="23774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Pillar 1 number"/>
          <p:cNvSpPr txBox="1"/>
          <p:nvPr/>
        </p:nvSpPr>
        <p:spPr>
          <a:xfrm>
            <a:off x="731520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Pillar 1 title"/>
          <p:cNvSpPr txBox="1"/>
          <p:nvPr/>
        </p:nvSpPr>
        <p:spPr>
          <a:xfrm>
            <a:off x="1078992" y="32004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Courage</a:t>
            </a:r>
            <a:endParaRPr lang="en-US" sz="2200" dirty="0"/>
          </a:p>
        </p:txBody>
      </p:sp>
      <p:sp>
        <p:nvSpPr>
          <p:cNvPr id="9" name="Pillar 1 text"/>
          <p:cNvSpPr txBox="1"/>
          <p:nvPr/>
        </p:nvSpPr>
        <p:spPr>
          <a:xfrm>
            <a:off x="731520" y="3749040"/>
            <a:ext cx="22706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Name the concern instead of hiding it.</a:t>
            </a:r>
            <a:endParaRPr lang="en-US" sz="1500" dirty="0"/>
          </a:p>
        </p:txBody>
      </p:sp>
      <p:pic>
        <p:nvPicPr>
          <p:cNvPr id="10" name="Evidence icon" descr="Evidenc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684" y="2377440"/>
            <a:ext cx="566928" cy="566928"/>
          </a:xfrm>
          <a:prstGeom prst="rect">
            <a:avLst/>
          </a:prstGeom>
        </p:spPr>
      </p:pic>
      <p:sp>
        <p:nvSpPr>
          <p:cNvPr id="11" name="Arrow 2"/>
          <p:cNvSpPr txBox="1"/>
          <p:nvPr/>
        </p:nvSpPr>
        <p:spPr>
          <a:xfrm>
            <a:off x="5410048" y="23774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Pillar 2 number"/>
          <p:cNvSpPr txBox="1"/>
          <p:nvPr/>
        </p:nvSpPr>
        <p:spPr>
          <a:xfrm>
            <a:off x="3413684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Pillar 2 title"/>
          <p:cNvSpPr txBox="1"/>
          <p:nvPr/>
        </p:nvSpPr>
        <p:spPr>
          <a:xfrm>
            <a:off x="3761156" y="32004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2200" dirty="0"/>
          </a:p>
        </p:txBody>
      </p:sp>
      <p:sp>
        <p:nvSpPr>
          <p:cNvPr id="14" name="Pillar 2 text"/>
          <p:cNvSpPr txBox="1"/>
          <p:nvPr/>
        </p:nvSpPr>
        <p:spPr>
          <a:xfrm>
            <a:off x="3413684" y="3749040"/>
            <a:ext cx="22706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Separate facts, assumptions and feelings.</a:t>
            </a:r>
            <a:endParaRPr lang="en-US" sz="1500" dirty="0"/>
          </a:p>
        </p:txBody>
      </p:sp>
      <p:pic>
        <p:nvPicPr>
          <p:cNvPr id="15" name="Respect icon" descr="Respec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2377440"/>
            <a:ext cx="566928" cy="566928"/>
          </a:xfrm>
          <a:prstGeom prst="rect">
            <a:avLst/>
          </a:prstGeom>
        </p:spPr>
      </p:pic>
      <p:sp>
        <p:nvSpPr>
          <p:cNvPr id="16" name="Arrow 3"/>
          <p:cNvSpPr txBox="1"/>
          <p:nvPr/>
        </p:nvSpPr>
        <p:spPr>
          <a:xfrm>
            <a:off x="8092211" y="23774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Pillar 3 number"/>
          <p:cNvSpPr txBox="1"/>
          <p:nvPr/>
        </p:nvSpPr>
        <p:spPr>
          <a:xfrm>
            <a:off x="6095848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Pillar 3 title"/>
          <p:cNvSpPr txBox="1"/>
          <p:nvPr/>
        </p:nvSpPr>
        <p:spPr>
          <a:xfrm>
            <a:off x="6443320" y="32004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</a:t>
            </a:r>
            <a:endParaRPr lang="en-US" sz="2200" dirty="0"/>
          </a:p>
        </p:txBody>
      </p:sp>
      <p:sp>
        <p:nvSpPr>
          <p:cNvPr id="19" name="Pillar 3 text"/>
          <p:cNvSpPr txBox="1"/>
          <p:nvPr/>
        </p:nvSpPr>
        <p:spPr>
          <a:xfrm>
            <a:off x="6095848" y="3749040"/>
            <a:ext cx="22706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Challenge the idea, not the person.</a:t>
            </a:r>
            <a:endParaRPr lang="en-US" sz="1500" dirty="0"/>
          </a:p>
        </p:txBody>
      </p:sp>
      <p:pic>
        <p:nvPicPr>
          <p:cNvPr id="20" name="Ownership icon" descr="Ownershi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011" y="2377440"/>
            <a:ext cx="566928" cy="566928"/>
          </a:xfrm>
          <a:prstGeom prst="rect">
            <a:avLst/>
          </a:prstGeom>
        </p:spPr>
      </p:pic>
      <p:sp>
        <p:nvSpPr>
          <p:cNvPr id="21" name="Pillar 4 number"/>
          <p:cNvSpPr txBox="1"/>
          <p:nvPr/>
        </p:nvSpPr>
        <p:spPr>
          <a:xfrm>
            <a:off x="8778011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Pillar 4 title"/>
          <p:cNvSpPr txBox="1"/>
          <p:nvPr/>
        </p:nvSpPr>
        <p:spPr>
          <a:xfrm>
            <a:off x="9125483" y="32004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2200" dirty="0"/>
          </a:p>
        </p:txBody>
      </p:sp>
      <p:sp>
        <p:nvSpPr>
          <p:cNvPr id="23" name="Pillar 4 text"/>
          <p:cNvSpPr txBox="1"/>
          <p:nvPr/>
        </p:nvSpPr>
        <p:spPr>
          <a:xfrm>
            <a:off x="8778011" y="3749040"/>
            <a:ext cx="22706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Offer a next step, not just a complaint.</a:t>
            </a:r>
            <a:endParaRPr lang="en-US" sz="1500" dirty="0"/>
          </a:p>
        </p:txBody>
      </p:sp>
      <p:sp>
        <p:nvSpPr>
          <p:cNvPr id="24" name="Divider"/>
          <p:cNvSpPr/>
          <p:nvPr/>
        </p:nvSpPr>
        <p:spPr>
          <a:xfrm>
            <a:off x="731520" y="4937760"/>
            <a:ext cx="10728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731520" y="51206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useful challenge combines candour with care.</a:t>
            </a:r>
            <a:endParaRPr lang="en-US" sz="2400" dirty="0"/>
          </a:p>
        </p:txBody>
      </p:sp>
      <p:sp>
        <p:nvSpPr>
          <p:cNvPr id="26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/ A SHORT STORY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five-minute pause that saved the launch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fictional composite scenario inspired by common project-team situations.</a:t>
            </a:r>
            <a:endParaRPr lang="en-US" sz="1600" dirty="0"/>
          </a:p>
        </p:txBody>
      </p:sp>
      <p:sp>
        <p:nvSpPr>
          <p:cNvPr id="5" name="Timeline"/>
          <p:cNvSpPr/>
          <p:nvPr/>
        </p:nvSpPr>
        <p:spPr>
          <a:xfrm>
            <a:off x="822960" y="3200400"/>
            <a:ext cx="8046491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6" name="Time 1"/>
          <p:cNvSpPr txBox="1"/>
          <p:nvPr/>
        </p:nvSpPr>
        <p:spPr>
          <a:xfrm>
            <a:off x="73152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09:00</a:t>
            </a:r>
            <a:endParaRPr lang="en-US" sz="2100" dirty="0"/>
          </a:p>
        </p:txBody>
      </p:sp>
      <p:sp>
        <p:nvSpPr>
          <p:cNvPr id="7" name="Moment 1"/>
          <p:cNvSpPr/>
          <p:nvPr/>
        </p:nvSpPr>
        <p:spPr>
          <a:xfrm>
            <a:off x="731520" y="3108960"/>
            <a:ext cx="182880" cy="18288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Step 1 title"/>
          <p:cNvSpPr txBox="1"/>
          <p:nvPr/>
        </p:nvSpPr>
        <p:spPr>
          <a:xfrm>
            <a:off x="731520" y="352044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1900" dirty="0"/>
          </a:p>
        </p:txBody>
      </p:sp>
      <p:sp>
        <p:nvSpPr>
          <p:cNvPr id="9" name="Step 1 text"/>
          <p:cNvSpPr txBox="1"/>
          <p:nvPr/>
        </p:nvSpPr>
        <p:spPr>
          <a:xfrm>
            <a:off x="731520" y="3977640"/>
            <a:ext cx="22706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team agrees to release a dashboard today.</a:t>
            </a:r>
            <a:endParaRPr lang="en-US" sz="1500" dirty="0"/>
          </a:p>
        </p:txBody>
      </p:sp>
      <p:sp>
        <p:nvSpPr>
          <p:cNvPr id="10" name="Time 2"/>
          <p:cNvSpPr txBox="1"/>
          <p:nvPr/>
        </p:nvSpPr>
        <p:spPr>
          <a:xfrm>
            <a:off x="3413684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09:12</a:t>
            </a:r>
            <a:endParaRPr lang="en-US" sz="2100" dirty="0"/>
          </a:p>
        </p:txBody>
      </p:sp>
      <p:sp>
        <p:nvSpPr>
          <p:cNvPr id="11" name="Moment 2"/>
          <p:cNvSpPr/>
          <p:nvPr/>
        </p:nvSpPr>
        <p:spPr>
          <a:xfrm>
            <a:off x="3413684" y="3108960"/>
            <a:ext cx="182880" cy="18288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Step 2 title"/>
          <p:cNvSpPr txBox="1"/>
          <p:nvPr/>
        </p:nvSpPr>
        <p:spPr>
          <a:xfrm>
            <a:off x="3413684" y="352044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</a:t>
            </a:r>
            <a:endParaRPr lang="en-US" sz="1900" dirty="0"/>
          </a:p>
        </p:txBody>
      </p:sp>
      <p:sp>
        <p:nvSpPr>
          <p:cNvPr id="13" name="Step 2 text"/>
          <p:cNvSpPr txBox="1"/>
          <p:nvPr/>
        </p:nvSpPr>
        <p:spPr>
          <a:xfrm>
            <a:off x="3413684" y="3977640"/>
            <a:ext cx="22706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An analyst spots that yesterday’s data is incomplete.</a:t>
            </a:r>
            <a:endParaRPr lang="en-US" sz="1500" dirty="0"/>
          </a:p>
        </p:txBody>
      </p:sp>
      <p:sp>
        <p:nvSpPr>
          <p:cNvPr id="14" name="Time 3"/>
          <p:cNvSpPr txBox="1"/>
          <p:nvPr/>
        </p:nvSpPr>
        <p:spPr>
          <a:xfrm>
            <a:off x="6095848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09:15</a:t>
            </a:r>
            <a:endParaRPr lang="en-US" sz="2100" dirty="0"/>
          </a:p>
        </p:txBody>
      </p:sp>
      <p:sp>
        <p:nvSpPr>
          <p:cNvPr id="15" name="Moment 3"/>
          <p:cNvSpPr/>
          <p:nvPr/>
        </p:nvSpPr>
        <p:spPr>
          <a:xfrm>
            <a:off x="6095848" y="3108960"/>
            <a:ext cx="182880" cy="182880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6" name="Step 3 title"/>
          <p:cNvSpPr txBox="1"/>
          <p:nvPr/>
        </p:nvSpPr>
        <p:spPr>
          <a:xfrm>
            <a:off x="6095848" y="352044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900" dirty="0"/>
          </a:p>
        </p:txBody>
      </p:sp>
      <p:sp>
        <p:nvSpPr>
          <p:cNvPr id="17" name="Step 3 text"/>
          <p:cNvSpPr txBox="1"/>
          <p:nvPr/>
        </p:nvSpPr>
        <p:spPr>
          <a:xfrm>
            <a:off x="6095848" y="3977640"/>
            <a:ext cx="22706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They show the missing-load evidence and suggest a check.</a:t>
            </a:r>
            <a:endParaRPr lang="en-US" sz="1500" dirty="0"/>
          </a:p>
        </p:txBody>
      </p:sp>
      <p:sp>
        <p:nvSpPr>
          <p:cNvPr id="18" name="Time 4"/>
          <p:cNvSpPr txBox="1"/>
          <p:nvPr/>
        </p:nvSpPr>
        <p:spPr>
          <a:xfrm>
            <a:off x="8778011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09:20</a:t>
            </a:r>
            <a:endParaRPr lang="en-US" sz="2100" dirty="0"/>
          </a:p>
        </p:txBody>
      </p:sp>
      <p:sp>
        <p:nvSpPr>
          <p:cNvPr id="19" name="Moment 4"/>
          <p:cNvSpPr/>
          <p:nvPr/>
        </p:nvSpPr>
        <p:spPr>
          <a:xfrm>
            <a:off x="8750579" y="3081528"/>
            <a:ext cx="237744" cy="237744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Step 4 title"/>
          <p:cNvSpPr txBox="1"/>
          <p:nvPr/>
        </p:nvSpPr>
        <p:spPr>
          <a:xfrm>
            <a:off x="8778011" y="3520440"/>
            <a:ext cx="23164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</a:t>
            </a:r>
            <a:endParaRPr lang="en-US" sz="1900" dirty="0"/>
          </a:p>
        </p:txBody>
      </p:sp>
      <p:sp>
        <p:nvSpPr>
          <p:cNvPr id="21" name="Step 4 text"/>
          <p:cNvSpPr txBox="1"/>
          <p:nvPr/>
        </p:nvSpPr>
        <p:spPr>
          <a:xfrm>
            <a:off x="8778011" y="3977640"/>
            <a:ext cx="22706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Release pauses; the data issue is fixed before users rely on it.</a:t>
            </a:r>
            <a:endParaRPr lang="en-US" sz="1500" dirty="0"/>
          </a:p>
        </p:txBody>
      </p:sp>
      <p:sp>
        <p:nvSpPr>
          <p:cNvPr id="22" name="Story panel"/>
          <p:cNvSpPr/>
          <p:nvPr/>
        </p:nvSpPr>
        <p:spPr>
          <a:xfrm>
            <a:off x="731520" y="5212080"/>
            <a:ext cx="10728655" cy="868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3" name="Story takeaway"/>
          <p:cNvSpPr txBox="1"/>
          <p:nvPr/>
        </p:nvSpPr>
        <p:spPr>
          <a:xfrm>
            <a:off x="1143000" y="52120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hero wasn’t the loudest person. It was the person who made the risk visible.</a:t>
            </a:r>
            <a:endParaRPr lang="en-US" sz="2000" dirty="0"/>
          </a:p>
        </p:txBody>
      </p:sp>
      <p:sp>
        <p:nvSpPr>
          <p:cNvPr id="24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06 / A PRACTICAL RESPONSE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“FACT” structure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calm, repeatable script for raising concerns without creating a personal confrontation.</a:t>
            </a:r>
            <a:endParaRPr lang="en-US" sz="1600" dirty="0"/>
          </a:p>
        </p:txBody>
      </p:sp>
      <p:sp>
        <p:nvSpPr>
          <p:cNvPr id="5" name="Letter F"/>
          <p:cNvSpPr txBox="1"/>
          <p:nvPr/>
        </p:nvSpPr>
        <p:spPr>
          <a:xfrm>
            <a:off x="731520" y="219456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  <p:sp>
        <p:nvSpPr>
          <p:cNvPr id="6" name="Label F"/>
          <p:cNvSpPr txBox="1"/>
          <p:nvPr/>
        </p:nvSpPr>
        <p:spPr>
          <a:xfrm>
            <a:off x="1600200" y="219456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Frame the shared goal</a:t>
            </a:r>
            <a:endParaRPr lang="en-US" sz="1800" dirty="0"/>
          </a:p>
        </p:txBody>
      </p:sp>
      <p:sp>
        <p:nvSpPr>
          <p:cNvPr id="7" name="Script F"/>
          <p:cNvSpPr txBox="1"/>
          <p:nvPr/>
        </p:nvSpPr>
        <p:spPr>
          <a:xfrm>
            <a:off x="5074920" y="2194560"/>
            <a:ext cx="63852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know we want the review to go smoothly.”</a:t>
            </a:r>
            <a:endParaRPr lang="en-US" sz="1700" dirty="0"/>
          </a:p>
        </p:txBody>
      </p:sp>
      <p:sp>
        <p:nvSpPr>
          <p:cNvPr id="8" name="Divider"/>
          <p:cNvSpPr/>
          <p:nvPr/>
        </p:nvSpPr>
        <p:spPr>
          <a:xfrm>
            <a:off x="731520" y="2980944"/>
            <a:ext cx="10728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Letter A"/>
          <p:cNvSpPr txBox="1"/>
          <p:nvPr/>
        </p:nvSpPr>
        <p:spPr>
          <a:xfrm>
            <a:off x="731520" y="2980944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10" name="Label A"/>
          <p:cNvSpPr txBox="1"/>
          <p:nvPr/>
        </p:nvSpPr>
        <p:spPr>
          <a:xfrm>
            <a:off x="1600200" y="2980944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Add observable evidence</a:t>
            </a:r>
            <a:endParaRPr lang="en-US" sz="1800" dirty="0"/>
          </a:p>
        </p:txBody>
      </p:sp>
      <p:sp>
        <p:nvSpPr>
          <p:cNvPr id="11" name="Script A"/>
          <p:cNvSpPr txBox="1"/>
          <p:nvPr/>
        </p:nvSpPr>
        <p:spPr>
          <a:xfrm>
            <a:off x="5074920" y="2980944"/>
            <a:ext cx="63852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source table hasn’t refreshed since yesterday.”</a:t>
            </a:r>
            <a:endParaRPr lang="en-US" sz="1700" dirty="0"/>
          </a:p>
        </p:txBody>
      </p:sp>
      <p:sp>
        <p:nvSpPr>
          <p:cNvPr id="12" name="Divider"/>
          <p:cNvSpPr/>
          <p:nvPr/>
        </p:nvSpPr>
        <p:spPr>
          <a:xfrm>
            <a:off x="731520" y="3767328"/>
            <a:ext cx="10728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Letter C"/>
          <p:cNvSpPr txBox="1"/>
          <p:nvPr/>
        </p:nvSpPr>
        <p:spPr>
          <a:xfrm>
            <a:off x="731520" y="37673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14" name="Label C"/>
          <p:cNvSpPr txBox="1"/>
          <p:nvPr/>
        </p:nvSpPr>
        <p:spPr>
          <a:xfrm>
            <a:off x="1600200" y="376732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Clarify the risk</a:t>
            </a:r>
            <a:endParaRPr lang="en-US" sz="1800" dirty="0"/>
          </a:p>
        </p:txBody>
      </p:sp>
      <p:sp>
        <p:nvSpPr>
          <p:cNvPr id="15" name="Script C"/>
          <p:cNvSpPr txBox="1"/>
          <p:nvPr/>
        </p:nvSpPr>
        <p:spPr>
          <a:xfrm>
            <a:off x="5074920" y="3767328"/>
            <a:ext cx="63852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“That could make today’s figures misleading.”</a:t>
            </a:r>
            <a:endParaRPr lang="en-US" sz="1700" dirty="0"/>
          </a:p>
        </p:txBody>
      </p:sp>
      <p:sp>
        <p:nvSpPr>
          <p:cNvPr id="16" name="Divider"/>
          <p:cNvSpPr/>
          <p:nvPr/>
        </p:nvSpPr>
        <p:spPr>
          <a:xfrm>
            <a:off x="731520" y="4553712"/>
            <a:ext cx="10728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Letter T"/>
          <p:cNvSpPr txBox="1"/>
          <p:nvPr/>
        </p:nvSpPr>
        <p:spPr>
          <a:xfrm>
            <a:off x="731520" y="4553712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18" name="Label T"/>
          <p:cNvSpPr txBox="1"/>
          <p:nvPr/>
        </p:nvSpPr>
        <p:spPr>
          <a:xfrm>
            <a:off x="1600200" y="455371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Table a next step</a:t>
            </a:r>
            <a:endParaRPr lang="en-US" sz="1800" dirty="0"/>
          </a:p>
        </p:txBody>
      </p:sp>
      <p:sp>
        <p:nvSpPr>
          <p:cNvPr id="19" name="Script T"/>
          <p:cNvSpPr txBox="1"/>
          <p:nvPr/>
        </p:nvSpPr>
        <p:spPr>
          <a:xfrm>
            <a:off x="5074920" y="4553712"/>
            <a:ext cx="63852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we validate the load and label the report if it’s still incomplete?”</a:t>
            </a:r>
            <a:endParaRPr lang="en-US" sz="1700" dirty="0"/>
          </a:p>
        </p:txBody>
      </p:sp>
      <p:sp>
        <p:nvSpPr>
          <p:cNvPr id="20" name="FACT panel"/>
          <p:cNvSpPr/>
          <p:nvPr/>
        </p:nvSpPr>
        <p:spPr>
          <a:xfrm>
            <a:off x="731520" y="5486400"/>
            <a:ext cx="10728655" cy="5669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FACT takeaway"/>
          <p:cNvSpPr txBox="1"/>
          <p:nvPr/>
        </p:nvSpPr>
        <p:spPr>
          <a:xfrm>
            <a:off x="1051560" y="548640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 specific about the risk; be collaborative about the solution.</a:t>
            </a:r>
            <a:endParaRPr lang="en-US" sz="1600" dirty="0"/>
          </a:p>
        </p:txBody>
      </p:sp>
      <p:sp>
        <p:nvSpPr>
          <p:cNvPr id="22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07 / LANGUAGE THAT WORKS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confrontation with constructive candour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Small changes in wording can lower defensiveness without weakening the message.</a:t>
            </a:r>
            <a:endParaRPr lang="en-US" sz="1600" dirty="0"/>
          </a:p>
        </p:txBody>
      </p:sp>
      <p:sp>
        <p:nvSpPr>
          <p:cNvPr id="5" name="Instead label"/>
          <p:cNvSpPr txBox="1"/>
          <p:nvPr/>
        </p:nvSpPr>
        <p:spPr>
          <a:xfrm>
            <a:off x="7315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INSTEAD OF…</a:t>
            </a:r>
            <a:endParaRPr lang="en-US" sz="1200" dirty="0"/>
          </a:p>
        </p:txBody>
      </p:sp>
      <p:sp>
        <p:nvSpPr>
          <p:cNvPr id="6" name="Try label"/>
          <p:cNvSpPr txBox="1"/>
          <p:nvPr/>
        </p:nvSpPr>
        <p:spPr>
          <a:xfrm>
            <a:off x="64922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tx1"/>
                </a:solidFill>
              </a:rPr>
              <a:t>TRY…</a:t>
            </a:r>
            <a:endParaRPr lang="en-US" sz="1200" dirty="0"/>
          </a:p>
        </p:txBody>
      </p:sp>
      <p:sp>
        <p:nvSpPr>
          <p:cNvPr id="7" name="Header rule"/>
          <p:cNvSpPr/>
          <p:nvPr/>
        </p:nvSpPr>
        <p:spPr>
          <a:xfrm>
            <a:off x="731520" y="2651760"/>
            <a:ext cx="1072865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8" name="Instead 1"/>
          <p:cNvSpPr txBox="1"/>
          <p:nvPr/>
        </p:nvSpPr>
        <p:spPr>
          <a:xfrm>
            <a:off x="731520" y="2697480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plan is wrong.”</a:t>
            </a:r>
            <a:endParaRPr lang="en-US" sz="1800" dirty="0"/>
          </a:p>
        </p:txBody>
      </p:sp>
      <p:pic>
        <p:nvPicPr>
          <p:cNvPr id="9" name="Arrow 1" descr="Beco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935224"/>
            <a:ext cx="329184" cy="329184"/>
          </a:xfrm>
          <a:prstGeom prst="rect">
            <a:avLst/>
          </a:prstGeom>
        </p:spPr>
      </p:pic>
      <p:sp>
        <p:nvSpPr>
          <p:cNvPr id="10" name="Try 1"/>
          <p:cNvSpPr txBox="1"/>
          <p:nvPr/>
        </p:nvSpPr>
        <p:spPr>
          <a:xfrm>
            <a:off x="6492240" y="2697480"/>
            <a:ext cx="4967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“Can we test one assumption before we commit?”</a:t>
            </a:r>
            <a:endParaRPr lang="en-US" sz="1800" dirty="0"/>
          </a:p>
        </p:txBody>
      </p:sp>
      <p:sp>
        <p:nvSpPr>
          <p:cNvPr id="11" name="Divider"/>
          <p:cNvSpPr/>
          <p:nvPr/>
        </p:nvSpPr>
        <p:spPr>
          <a:xfrm>
            <a:off x="731520" y="3502152"/>
            <a:ext cx="10728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Instead 2"/>
          <p:cNvSpPr txBox="1"/>
          <p:nvPr/>
        </p:nvSpPr>
        <p:spPr>
          <a:xfrm>
            <a:off x="731520" y="3502152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“Nobody checked the data.”</a:t>
            </a:r>
            <a:endParaRPr lang="en-US" sz="1800" dirty="0"/>
          </a:p>
        </p:txBody>
      </p:sp>
      <p:pic>
        <p:nvPicPr>
          <p:cNvPr id="13" name="Arrow 2" descr="Beco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739896"/>
            <a:ext cx="329184" cy="329184"/>
          </a:xfrm>
          <a:prstGeom prst="rect">
            <a:avLst/>
          </a:prstGeom>
        </p:spPr>
      </p:pic>
      <p:sp>
        <p:nvSpPr>
          <p:cNvPr id="14" name="Try 2"/>
          <p:cNvSpPr txBox="1"/>
          <p:nvPr/>
        </p:nvSpPr>
        <p:spPr>
          <a:xfrm>
            <a:off x="6492240" y="3502152"/>
            <a:ext cx="4967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“I’m seeing a gap in validation; let’s verify it.”</a:t>
            </a:r>
            <a:endParaRPr lang="en-US" sz="1800" dirty="0"/>
          </a:p>
        </p:txBody>
      </p:sp>
      <p:sp>
        <p:nvSpPr>
          <p:cNvPr id="15" name="Divider"/>
          <p:cNvSpPr/>
          <p:nvPr/>
        </p:nvSpPr>
        <p:spPr>
          <a:xfrm>
            <a:off x="731520" y="4306824"/>
            <a:ext cx="10728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Instead 3"/>
          <p:cNvSpPr txBox="1"/>
          <p:nvPr/>
        </p:nvSpPr>
        <p:spPr>
          <a:xfrm>
            <a:off x="731520" y="4306824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told you this would happen.”</a:t>
            </a:r>
            <a:endParaRPr lang="en-US" sz="1800" dirty="0"/>
          </a:p>
        </p:txBody>
      </p:sp>
      <p:pic>
        <p:nvPicPr>
          <p:cNvPr id="17" name="Arrow 3" descr="Beco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544568"/>
            <a:ext cx="329184" cy="329184"/>
          </a:xfrm>
          <a:prstGeom prst="rect">
            <a:avLst/>
          </a:prstGeom>
        </p:spPr>
      </p:pic>
      <p:sp>
        <p:nvSpPr>
          <p:cNvPr id="18" name="Try 3"/>
          <p:cNvSpPr txBox="1"/>
          <p:nvPr/>
        </p:nvSpPr>
        <p:spPr>
          <a:xfrm>
            <a:off x="6492240" y="4306824"/>
            <a:ext cx="4967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“What can we learn and change for next time?”</a:t>
            </a:r>
            <a:endParaRPr lang="en-US" sz="1800" dirty="0"/>
          </a:p>
        </p:txBody>
      </p:sp>
      <p:sp>
        <p:nvSpPr>
          <p:cNvPr id="19" name="Divider"/>
          <p:cNvSpPr/>
          <p:nvPr/>
        </p:nvSpPr>
        <p:spPr>
          <a:xfrm>
            <a:off x="731520" y="5111496"/>
            <a:ext cx="10728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Principle panel"/>
          <p:cNvSpPr/>
          <p:nvPr/>
        </p:nvSpPr>
        <p:spPr>
          <a:xfrm>
            <a:off x="731520" y="5349240"/>
            <a:ext cx="10728655" cy="71323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Principle"/>
          <p:cNvSpPr txBox="1"/>
          <p:nvPr/>
        </p:nvSpPr>
        <p:spPr>
          <a:xfrm>
            <a:off x="1051560" y="5349240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PRINCIPLE: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 direct about the issue and generous about people’s intentions.</a:t>
            </a:r>
            <a:endParaRPr lang="en-US" sz="1900" dirty="0"/>
          </a:p>
        </p:txBody>
      </p:sp>
      <p:sp>
        <p:nvSpPr>
          <p:cNvPr id="22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09 / BUILD THE CULTURE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Speaking up works best when leaders respond well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Individual courage starts the conversation; team habits determine whether it continues.</a:t>
            </a:r>
            <a:endParaRPr lang="en-US" sz="1600" dirty="0"/>
          </a:p>
        </p:txBody>
      </p:sp>
      <p:pic>
        <p:nvPicPr>
          <p:cNvPr id="5" name="LEADERS icon" descr="LEAD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31720"/>
            <a:ext cx="566928" cy="566928"/>
          </a:xfrm>
          <a:prstGeom prst="rect">
            <a:avLst/>
          </a:prstGeom>
        </p:spPr>
      </p:pic>
      <p:sp>
        <p:nvSpPr>
          <p:cNvPr id="6" name="LEADERS title"/>
          <p:cNvSpPr txBox="1"/>
          <p:nvPr/>
        </p:nvSpPr>
        <p:spPr>
          <a:xfrm>
            <a:off x="731520" y="310896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50" kern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</a:t>
            </a:r>
            <a:endParaRPr lang="en-US" sz="1900" dirty="0"/>
          </a:p>
        </p:txBody>
      </p:sp>
      <p:sp>
        <p:nvSpPr>
          <p:cNvPr id="7" name="LEADERS text"/>
          <p:cNvSpPr txBox="1"/>
          <p:nvPr/>
        </p:nvSpPr>
        <p:spPr>
          <a:xfrm>
            <a:off x="731520" y="361188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Thank the person who raises a concern. Ask what evidence would change the decision.</a:t>
            </a:r>
            <a:endParaRPr lang="en-US" sz="1600" dirty="0"/>
          </a:p>
        </p:txBody>
      </p:sp>
      <p:sp>
        <p:nvSpPr>
          <p:cNvPr id="8" name="Divider"/>
          <p:cNvSpPr/>
          <p:nvPr/>
        </p:nvSpPr>
        <p:spPr>
          <a:xfrm>
            <a:off x="4307738" y="2331720"/>
            <a:ext cx="0" cy="246888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9" name="TEAMMATES icon" descr="TEAMMAT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331720"/>
            <a:ext cx="566928" cy="566928"/>
          </a:xfrm>
          <a:prstGeom prst="rect">
            <a:avLst/>
          </a:prstGeom>
        </p:spPr>
      </p:pic>
      <p:sp>
        <p:nvSpPr>
          <p:cNvPr id="10" name="TEAMMATES title"/>
          <p:cNvSpPr txBox="1"/>
          <p:nvPr/>
        </p:nvSpPr>
        <p:spPr>
          <a:xfrm>
            <a:off x="4673498" y="310896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50" kern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TEAMMATES</a:t>
            </a:r>
            <a:endParaRPr lang="en-US" sz="1900" dirty="0"/>
          </a:p>
        </p:txBody>
      </p:sp>
      <p:sp>
        <p:nvSpPr>
          <p:cNvPr id="11" name="TEAMMATES text"/>
          <p:cNvSpPr txBox="1"/>
          <p:nvPr/>
        </p:nvSpPr>
        <p:spPr>
          <a:xfrm>
            <a:off x="4673498" y="361188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Listen fully. Ask clarifying questions. Don’t punish respectful dissent.</a:t>
            </a:r>
            <a:endParaRPr lang="en-US" sz="1600" dirty="0"/>
          </a:p>
        </p:txBody>
      </p:sp>
      <p:sp>
        <p:nvSpPr>
          <p:cNvPr id="12" name="Divider"/>
          <p:cNvSpPr/>
          <p:nvPr/>
        </p:nvSpPr>
        <p:spPr>
          <a:xfrm>
            <a:off x="7883957" y="2331720"/>
            <a:ext cx="0" cy="246888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13" name="EVERYONE icon" descr="EVERYO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717" y="2331720"/>
            <a:ext cx="566928" cy="566928"/>
          </a:xfrm>
          <a:prstGeom prst="rect">
            <a:avLst/>
          </a:prstGeom>
        </p:spPr>
      </p:pic>
      <p:sp>
        <p:nvSpPr>
          <p:cNvPr id="14" name="EVERYONE title"/>
          <p:cNvSpPr txBox="1"/>
          <p:nvPr/>
        </p:nvSpPr>
        <p:spPr>
          <a:xfrm>
            <a:off x="8249717" y="310896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50" kern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</a:t>
            </a:r>
            <a:endParaRPr lang="en-US" sz="1900" dirty="0"/>
          </a:p>
        </p:txBody>
      </p:sp>
      <p:sp>
        <p:nvSpPr>
          <p:cNvPr id="15" name="EVERYONE text"/>
          <p:cNvSpPr txBox="1"/>
          <p:nvPr/>
        </p:nvSpPr>
        <p:spPr>
          <a:xfrm>
            <a:off x="8249717" y="361188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Make it normal to run pre-mortems, document risks and revisit assumptions.</a:t>
            </a:r>
            <a:endParaRPr lang="en-US" sz="1600" dirty="0"/>
          </a:p>
        </p:txBody>
      </p:sp>
      <p:sp>
        <p:nvSpPr>
          <p:cNvPr id="16" name="Safety panel"/>
          <p:cNvSpPr/>
          <p:nvPr/>
        </p:nvSpPr>
        <p:spPr>
          <a:xfrm>
            <a:off x="731520" y="5166360"/>
            <a:ext cx="10728655" cy="9144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Safety statement"/>
          <p:cNvSpPr txBox="1"/>
          <p:nvPr/>
        </p:nvSpPr>
        <p:spPr>
          <a:xfrm>
            <a:off x="1143000" y="516636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Psychological safety does not mean avoiding accountability. It means being able to raise issues without humiliation.</a:t>
            </a:r>
            <a:endParaRPr lang="en-US" sz="1800" dirty="0"/>
          </a:p>
        </p:txBody>
      </p:sp>
      <p:sp>
        <p:nvSpPr>
          <p:cNvPr id="18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08 / WISDOM TO REMEMBER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Courage is a team skill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good culture makes it safer to surface problems early.</a:t>
            </a:r>
            <a:endParaRPr lang="en-US" sz="1600" dirty="0"/>
          </a:p>
        </p:txBody>
      </p:sp>
      <p:sp>
        <p:nvSpPr>
          <p:cNvPr id="5" name="Proverb panel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6" name="Quote mark" descr="Quote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77440"/>
            <a:ext cx="502920" cy="502920"/>
          </a:xfrm>
          <a:prstGeom prst="rect">
            <a:avLst/>
          </a:prstGeom>
        </p:spPr>
      </p:pic>
      <p:sp>
        <p:nvSpPr>
          <p:cNvPr id="7" name="Truth quote"/>
          <p:cNvSpPr txBox="1"/>
          <p:nvPr/>
        </p:nvSpPr>
        <p:spPr>
          <a:xfrm>
            <a:off x="731520" y="29718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truth will set you free.”</a:t>
            </a:r>
            <a:endParaRPr lang="en-US" sz="2800" dirty="0"/>
          </a:p>
        </p:txBody>
      </p:sp>
      <p:sp>
        <p:nvSpPr>
          <p:cNvPr id="8" name="Truth source"/>
          <p:cNvSpPr txBox="1"/>
          <p:nvPr/>
        </p:nvSpPr>
        <p:spPr>
          <a:xfrm>
            <a:off x="731520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— John 8:32 (biblical quotation)</a:t>
            </a:r>
            <a:endParaRPr lang="en-US" sz="1400" dirty="0"/>
          </a:p>
        </p:txBody>
      </p:sp>
      <p:sp>
        <p:nvSpPr>
          <p:cNvPr id="9" name="Truth text"/>
          <p:cNvSpPr txBox="1"/>
          <p:nvPr/>
        </p:nvSpPr>
        <p:spPr>
          <a:xfrm>
            <a:off x="731520" y="4206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Truth is useful when it is paired with humility and responsibility.</a:t>
            </a:r>
            <a:endParaRPr lang="en-US" sz="1700" dirty="0"/>
          </a:p>
        </p:txBody>
      </p:sp>
      <p:sp>
        <p:nvSpPr>
          <p:cNvPr id="10" name="Attribution note"/>
          <p:cNvSpPr txBox="1"/>
          <p:nvPr/>
        </p:nvSpPr>
        <p:spPr>
          <a:xfrm>
            <a:off x="73152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Commonly attributed to Ambrose Redmoon; attribution is disputed.</a:t>
            </a:r>
            <a:endParaRPr lang="en-US" sz="1100" dirty="0"/>
          </a:p>
        </p:txBody>
      </p:sp>
      <p:sp>
        <p:nvSpPr>
          <p:cNvPr id="11" name="Proverb label"/>
          <p:cNvSpPr txBox="1"/>
          <p:nvPr/>
        </p:nvSpPr>
        <p:spPr>
          <a:xfrm>
            <a:off x="73152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PROVERB</a:t>
            </a:r>
            <a:endParaRPr lang="en-US" sz="1200" dirty="0"/>
          </a:p>
        </p:txBody>
      </p:sp>
      <p:sp>
        <p:nvSpPr>
          <p:cNvPr id="12" name="Proverb"/>
          <p:cNvSpPr txBox="1"/>
          <p:nvPr/>
        </p:nvSpPr>
        <p:spPr>
          <a:xfrm>
            <a:off x="7315200" y="1691640"/>
            <a:ext cx="4236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stitch in time saves nine.”</a:t>
            </a:r>
            <a:endParaRPr lang="en-US" sz="4200" dirty="0"/>
          </a:p>
        </p:txBody>
      </p:sp>
      <p:sp>
        <p:nvSpPr>
          <p:cNvPr id="13" name="Proverb meaning"/>
          <p:cNvSpPr txBox="1"/>
          <p:nvPr/>
        </p:nvSpPr>
        <p:spPr>
          <a:xfrm>
            <a:off x="7315200" y="3749040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Small, early fixes prevent bigger failures.</a:t>
            </a:r>
            <a:endParaRPr lang="en-US" sz="1800" dirty="0"/>
          </a:p>
        </p:txBody>
      </p:sp>
      <p:sp>
        <p:nvSpPr>
          <p:cNvPr id="14" name="Thread illustration"/>
          <p:cNvSpPr/>
          <p:nvPr/>
        </p:nvSpPr>
        <p:spPr>
          <a:xfrm>
            <a:off x="7315200" y="4572000"/>
            <a:ext cx="3291840" cy="1005840"/>
          </a:xfrm>
          <a:custGeom>
            <a:avLst/>
            <a:gdLst/>
            <a:ahLst/>
            <a:cxnLst/>
            <a:rect l="l" t="t" r="r" b="b"/>
            <a:pathLst>
              <a:path w="3291840" h="1005840">
                <a:moveTo>
                  <a:pt x="0" y="685800"/>
                </a:moveTo>
                <a:cubicBezTo>
                  <a:pt x="320040" y="1051560"/>
                  <a:pt x="777240" y="960120"/>
                  <a:pt x="1097280" y="502920"/>
                </a:cubicBezTo>
                <a:cubicBezTo>
                  <a:pt x="1371600" y="91440"/>
                  <a:pt x="1691640" y="45720"/>
                  <a:pt x="2011680" y="411480"/>
                </a:cubicBezTo>
                <a:cubicBezTo>
                  <a:pt x="2331720" y="777240"/>
                  <a:pt x="2834640" y="685800"/>
                  <a:pt x="3154680" y="274320"/>
                </a:cubicBezTo>
              </a:path>
            </a:pathLst>
          </a:custGeom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Needle illustration" descr="Needle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43400"/>
            <a:ext cx="777240" cy="777240"/>
          </a:xfrm>
          <a:prstGeom prst="rect">
            <a:avLst/>
          </a:prstGeom>
        </p:spPr>
      </p:pic>
      <p:sp>
        <p:nvSpPr>
          <p:cNvPr id="16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8716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11 / CLOSE WITH ACTION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868680"/>
            <a:ext cx="8716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time you disagree…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572768"/>
            <a:ext cx="8716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Make your voice useful, not merely loud.</a:t>
            </a:r>
            <a:endParaRPr lang="en-US" sz="1600" dirty="0"/>
          </a:p>
        </p:txBody>
      </p:sp>
      <p:sp>
        <p:nvSpPr>
          <p:cNvPr id="5" name="Organic shape"/>
          <p:cNvSpPr/>
          <p:nvPr/>
        </p:nvSpPr>
        <p:spPr>
          <a:xfrm>
            <a:off x="9646920" y="-1005840"/>
            <a:ext cx="3291840" cy="3017520"/>
          </a:xfrm>
          <a:custGeom>
            <a:avLst/>
            <a:gdLst/>
            <a:ahLst/>
            <a:cxnLst/>
            <a:rect l="l" t="t" r="r" b="b"/>
            <a:pathLst>
              <a:path w="3291840" h="3017520">
                <a:moveTo>
                  <a:pt x="1645920" y="0"/>
                </a:moveTo>
                <a:cubicBezTo>
                  <a:pt x="1995072" y="7112"/>
                  <a:pt x="2406753" y="318468"/>
                  <a:pt x="2670100" y="569928"/>
                </a:cubicBezTo>
                <a:cubicBezTo>
                  <a:pt x="2933447" y="821388"/>
                  <a:pt x="3222124" y="1192260"/>
                  <a:pt x="3226003" y="1508760"/>
                </a:cubicBezTo>
                <a:cubicBezTo>
                  <a:pt x="3229883" y="1825260"/>
                  <a:pt x="2956724" y="2217469"/>
                  <a:pt x="2693377" y="2468929"/>
                </a:cubicBezTo>
                <a:cubicBezTo>
                  <a:pt x="2430030" y="2720389"/>
                  <a:pt x="1987313" y="3024632"/>
                  <a:pt x="1645920" y="3017520"/>
                </a:cubicBezTo>
                <a:cubicBezTo>
                  <a:pt x="1304527" y="3010408"/>
                  <a:pt x="905621" y="2677715"/>
                  <a:pt x="645017" y="2426255"/>
                </a:cubicBezTo>
                <a:cubicBezTo>
                  <a:pt x="384413" y="2174795"/>
                  <a:pt x="93934" y="1825260"/>
                  <a:pt x="82296" y="1508760"/>
                </a:cubicBezTo>
                <a:cubicBezTo>
                  <a:pt x="70658" y="1192260"/>
                  <a:pt x="314582" y="778714"/>
                  <a:pt x="575186" y="527254"/>
                </a:cubicBezTo>
                <a:cubicBezTo>
                  <a:pt x="835790" y="275794"/>
                  <a:pt x="1296768" y="-7112"/>
                  <a:pt x="1645920" y="0"/>
                </a:cubicBezTo>
                <a:close/>
              </a:path>
            </a:pathLst>
          </a:custGeom>
          <a:solidFill>
            <a:schemeClr val="accent3"/>
          </a:solidFill>
          <a:ln/>
        </p:spPr>
      </p:sp>
      <p:pic>
        <p:nvPicPr>
          <p:cNvPr id="6" name="Speech illustration" descr="Speech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2920"/>
            <a:ext cx="777240" cy="777240"/>
          </a:xfrm>
          <a:prstGeom prst="rect">
            <a:avLst/>
          </a:prstGeom>
        </p:spPr>
      </p:pic>
      <p:sp>
        <p:nvSpPr>
          <p:cNvPr id="7" name="Step 01 number"/>
          <p:cNvSpPr txBox="1"/>
          <p:nvPr/>
        </p:nvSpPr>
        <p:spPr>
          <a:xfrm>
            <a:off x="731520" y="2331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Pause icon" descr="Pau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018" y="2331720"/>
            <a:ext cx="438912" cy="438912"/>
          </a:xfrm>
          <a:prstGeom prst="rect">
            <a:avLst/>
          </a:prstGeom>
        </p:spPr>
      </p:pic>
      <p:sp>
        <p:nvSpPr>
          <p:cNvPr id="9" name="Pause title"/>
          <p:cNvSpPr txBox="1"/>
          <p:nvPr/>
        </p:nvSpPr>
        <p:spPr>
          <a:xfrm>
            <a:off x="731520" y="292608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</a:t>
            </a:r>
            <a:endParaRPr lang="en-US" sz="3000" dirty="0"/>
          </a:p>
        </p:txBody>
      </p:sp>
      <p:sp>
        <p:nvSpPr>
          <p:cNvPr id="10" name="Pause question"/>
          <p:cNvSpPr txBox="1"/>
          <p:nvPr/>
        </p:nvSpPr>
        <p:spPr>
          <a:xfrm>
            <a:off x="731520" y="35661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What is the shared goal?</a:t>
            </a:r>
            <a:endParaRPr lang="en-US" sz="1600" dirty="0"/>
          </a:p>
        </p:txBody>
      </p:sp>
      <p:sp>
        <p:nvSpPr>
          <p:cNvPr id="11" name="Divider"/>
          <p:cNvSpPr/>
          <p:nvPr/>
        </p:nvSpPr>
        <p:spPr>
          <a:xfrm>
            <a:off x="4307738" y="2331720"/>
            <a:ext cx="0" cy="196596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2" name="Step 02 number"/>
          <p:cNvSpPr txBox="1"/>
          <p:nvPr/>
        </p:nvSpPr>
        <p:spPr>
          <a:xfrm>
            <a:off x="4673498" y="2331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Prove icon" descr="Prov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997" y="2331720"/>
            <a:ext cx="438912" cy="438912"/>
          </a:xfrm>
          <a:prstGeom prst="rect">
            <a:avLst/>
          </a:prstGeom>
        </p:spPr>
      </p:pic>
      <p:sp>
        <p:nvSpPr>
          <p:cNvPr id="14" name="Prove title"/>
          <p:cNvSpPr txBox="1"/>
          <p:nvPr/>
        </p:nvSpPr>
        <p:spPr>
          <a:xfrm>
            <a:off x="4673498" y="292608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3000" dirty="0"/>
          </a:p>
        </p:txBody>
      </p:sp>
      <p:sp>
        <p:nvSpPr>
          <p:cNvPr id="15" name="Prove question"/>
          <p:cNvSpPr txBox="1"/>
          <p:nvPr/>
        </p:nvSpPr>
        <p:spPr>
          <a:xfrm>
            <a:off x="4673498" y="35661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What do I know, and what needs checking?</a:t>
            </a:r>
            <a:endParaRPr lang="en-US" sz="1600" dirty="0"/>
          </a:p>
        </p:txBody>
      </p:sp>
      <p:sp>
        <p:nvSpPr>
          <p:cNvPr id="16" name="Divider"/>
          <p:cNvSpPr/>
          <p:nvPr/>
        </p:nvSpPr>
        <p:spPr>
          <a:xfrm>
            <a:off x="7883957" y="2331720"/>
            <a:ext cx="0" cy="196596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7" name="Step 03 number"/>
          <p:cNvSpPr txBox="1"/>
          <p:nvPr/>
        </p:nvSpPr>
        <p:spPr>
          <a:xfrm>
            <a:off x="8249717" y="2331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pic>
        <p:nvPicPr>
          <p:cNvPr id="18" name="Propose icon" descr="Propo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215" y="2331720"/>
            <a:ext cx="438912" cy="438912"/>
          </a:xfrm>
          <a:prstGeom prst="rect">
            <a:avLst/>
          </a:prstGeom>
        </p:spPr>
      </p:pic>
      <p:sp>
        <p:nvSpPr>
          <p:cNvPr id="19" name="Propose title"/>
          <p:cNvSpPr txBox="1"/>
          <p:nvPr/>
        </p:nvSpPr>
        <p:spPr>
          <a:xfrm>
            <a:off x="8249717" y="292608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3000" dirty="0"/>
          </a:p>
        </p:txBody>
      </p:sp>
      <p:sp>
        <p:nvSpPr>
          <p:cNvPr id="20" name="Propose question"/>
          <p:cNvSpPr txBox="1"/>
          <p:nvPr/>
        </p:nvSpPr>
        <p:spPr>
          <a:xfrm>
            <a:off x="8249717" y="35661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What is the safest next step?</a:t>
            </a:r>
            <a:endParaRPr lang="en-US" sz="1600" dirty="0"/>
          </a:p>
        </p:txBody>
      </p:sp>
      <p:sp>
        <p:nvSpPr>
          <p:cNvPr id="21" name="Divider"/>
          <p:cNvSpPr/>
          <p:nvPr/>
        </p:nvSpPr>
        <p:spPr>
          <a:xfrm>
            <a:off x="731520" y="4572000"/>
            <a:ext cx="1072865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2" name="Integrity quote"/>
          <p:cNvSpPr txBox="1"/>
          <p:nvPr/>
        </p:nvSpPr>
        <p:spPr>
          <a:xfrm>
            <a:off x="731520" y="47548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“Integrity is doing the right thing, even when it’s not easy.”</a:t>
            </a:r>
            <a:endParaRPr lang="en-US" sz="2600" dirty="0"/>
          </a:p>
        </p:txBody>
      </p:sp>
      <p:sp>
        <p:nvSpPr>
          <p:cNvPr id="23" name="Thank you"/>
          <p:cNvSpPr txBox="1"/>
          <p:nvPr/>
        </p:nvSpPr>
        <p:spPr>
          <a:xfrm>
            <a:off x="731520" y="55778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THANK YOU  •  QUESTIONS / DISCUSSION</a:t>
            </a:r>
            <a:endParaRPr lang="en-US" sz="1300" dirty="0"/>
          </a:p>
        </p:txBody>
      </p:sp>
      <p:sp>
        <p:nvSpPr>
          <p:cNvPr id="24" name="Page label"/>
          <p:cNvSpPr txBox="1"/>
          <p:nvPr/>
        </p:nvSpPr>
        <p:spPr>
          <a:xfrm>
            <a:off x="108200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Warm White">
  <a:themeElements>
    <a:clrScheme name="Navy Warm White">
      <a:dk1>
        <a:srgbClr val="14213D"/>
      </a:dk1>
      <a:lt1>
        <a:srgbClr val="FFFFFF"/>
      </a:lt1>
      <a:dk2>
        <a:srgbClr val="3B4C6E"/>
      </a:dk2>
      <a:lt2>
        <a:srgbClr val="F7F4EE"/>
      </a:lt2>
      <a:accent1>
        <a:srgbClr val="3B4C6E"/>
      </a:accent1>
      <a:accent2>
        <a:srgbClr val="E6E8EE"/>
      </a:accent2>
      <a:accent3>
        <a:srgbClr val="1F2F52"/>
      </a:accent3>
      <a:accent4>
        <a:srgbClr val="687389"/>
      </a:accent4>
      <a:accent5>
        <a:srgbClr val="B7C0D2"/>
      </a:accent5>
      <a:accent6>
        <a:srgbClr val="CDD2DC"/>
      </a:accent6>
      <a:hlink>
        <a:srgbClr val="3B4C6E"/>
      </a:hlink>
      <a:folHlink>
        <a:srgbClr val="687389"/>
      </a:folHlink>
    </a:clrScheme>
    <a:fontScheme name="Navy Warm W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Power of Speaking Up</dc:title>
  <dc:subject>PptxGenJS Presentation</dc:subject>
  <dc:creator>PptxGenJS</dc:creator>
  <cp:lastModifiedBy>PptxGenJS</cp:lastModifiedBy>
  <cp:revision>1</cp:revision>
  <dcterms:created xsi:type="dcterms:W3CDTF">2026-10-26T07:32:01Z</dcterms:created>
  <dcterms:modified xsi:type="dcterms:W3CDTF">2026-10-26T07:32:01Z</dcterms:modified>
</cp:coreProperties>
</file>