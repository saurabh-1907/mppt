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ILAL THAKRE, MAITHILI" userId="84081bd9-6fa2-4335-ac39-3465dcc3fc37" providerId="ADAL" clId="{9D4CCB3C-3373-4B57-94EB-1A4D6EFCDD9B}"/>
    <pc:docChg chg="custSel delSld modSld sldOrd">
      <pc:chgData name="DEBILAL THAKRE, MAITHILI" userId="84081bd9-6fa2-4335-ac39-3465dcc3fc37" providerId="ADAL" clId="{9D4CCB3C-3373-4B57-94EB-1A4D6EFCDD9B}" dt="2026-10-26T06:34:36.839" v="298" actId="478"/>
      <pc:docMkLst>
        <pc:docMk/>
      </pc:docMkLst>
      <pc:sldChg chg="addSp delSp modSp mod">
        <pc:chgData name="DEBILAL THAKRE, MAITHILI" userId="84081bd9-6fa2-4335-ac39-3465dcc3fc37" providerId="ADAL" clId="{9D4CCB3C-3373-4B57-94EB-1A4D6EFCDD9B}" dt="2026-10-26T05:30:35.765" v="297" actId="1076"/>
        <pc:sldMkLst>
          <pc:docMk/>
          <pc:sldMk cId="0" sldId="256"/>
        </pc:sldMkLst>
        <pc:spChg chg="del">
          <ac:chgData name="DEBILAL THAKRE, MAITHILI" userId="84081bd9-6fa2-4335-ac39-3465dcc3fc37" providerId="ADAL" clId="{9D4CCB3C-3373-4B57-94EB-1A4D6EFCDD9B}" dt="2026-10-26T05:25:24.982" v="173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DEBILAL THAKRE, MAITHILI" userId="84081bd9-6fa2-4335-ac39-3465dcc3fc37" providerId="ADAL" clId="{9D4CCB3C-3373-4B57-94EB-1A4D6EFCDD9B}" dt="2026-10-26T05:25:33.467" v="206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DEBILAL THAKRE, MAITHILI" userId="84081bd9-6fa2-4335-ac39-3465dcc3fc37" providerId="ADAL" clId="{9D4CCB3C-3373-4B57-94EB-1A4D6EFCDD9B}" dt="2026-10-26T05:30:35.765" v="297" actId="1076"/>
          <ac:spMkLst>
            <pc:docMk/>
            <pc:sldMk cId="0" sldId="256"/>
            <ac:spMk id="15" creationId="{5C94F5F1-1D0D-6E59-DF19-7445F87A112C}"/>
          </ac:spMkLst>
        </pc:spChg>
      </pc:sldChg>
      <pc:sldChg chg="delSp modSp mod">
        <pc:chgData name="DEBILAL THAKRE, MAITHILI" userId="84081bd9-6fa2-4335-ac39-3465dcc3fc37" providerId="ADAL" clId="{9D4CCB3C-3373-4B57-94EB-1A4D6EFCDD9B}" dt="2026-10-26T04:51:04.906" v="77"/>
        <pc:sldMkLst>
          <pc:docMk/>
          <pc:sldMk cId="0" sldId="257"/>
        </pc:sldMkLst>
        <pc:spChg chg="del mod">
          <ac:chgData name="DEBILAL THAKRE, MAITHILI" userId="84081bd9-6fa2-4335-ac39-3465dcc3fc37" providerId="ADAL" clId="{9D4CCB3C-3373-4B57-94EB-1A4D6EFCDD9B}" dt="2026-10-26T04:51:04.906" v="77"/>
          <ac:spMkLst>
            <pc:docMk/>
            <pc:sldMk cId="0" sldId="257"/>
            <ac:spMk id="17" creationId="{00000000-0000-0000-0000-000000000000}"/>
          </ac:spMkLst>
        </pc:spChg>
      </pc:sldChg>
      <pc:sldChg chg="delSp mod">
        <pc:chgData name="DEBILAL THAKRE, MAITHILI" userId="84081bd9-6fa2-4335-ac39-3465dcc3fc37" providerId="ADAL" clId="{9D4CCB3C-3373-4B57-94EB-1A4D6EFCDD9B}" dt="2026-10-26T06:34:36.839" v="298" actId="478"/>
        <pc:sldMkLst>
          <pc:docMk/>
          <pc:sldMk cId="0" sldId="258"/>
        </pc:sldMkLst>
        <pc:spChg chg="del">
          <ac:chgData name="DEBILAL THAKRE, MAITHILI" userId="84081bd9-6fa2-4335-ac39-3465dcc3fc37" providerId="ADAL" clId="{9D4CCB3C-3373-4B57-94EB-1A4D6EFCDD9B}" dt="2026-10-26T06:34:36.839" v="298" actId="478"/>
          <ac:spMkLst>
            <pc:docMk/>
            <pc:sldMk cId="0" sldId="258"/>
            <ac:spMk id="14" creationId="{00000000-0000-0000-0000-000000000000}"/>
          </ac:spMkLst>
        </pc:spChg>
      </pc:sldChg>
      <pc:sldChg chg="del">
        <pc:chgData name="DEBILAL THAKRE, MAITHILI" userId="84081bd9-6fa2-4335-ac39-3465dcc3fc37" providerId="ADAL" clId="{9D4CCB3C-3373-4B57-94EB-1A4D6EFCDD9B}" dt="2026-10-26T03:30:39.914" v="0" actId="2696"/>
        <pc:sldMkLst>
          <pc:docMk/>
          <pc:sldMk cId="0" sldId="261"/>
        </pc:sldMkLst>
      </pc:sldChg>
      <pc:sldChg chg="delSp modSp mod ord">
        <pc:chgData name="DEBILAL THAKRE, MAITHILI" userId="84081bd9-6fa2-4335-ac39-3465dcc3fc37" providerId="ADAL" clId="{9D4CCB3C-3373-4B57-94EB-1A4D6EFCDD9B}" dt="2026-10-26T05:04:55.557" v="172"/>
        <pc:sldMkLst>
          <pc:docMk/>
          <pc:sldMk cId="0" sldId="264"/>
        </pc:sldMkLst>
        <pc:spChg chg="del mod">
          <ac:chgData name="DEBILAL THAKRE, MAITHILI" userId="84081bd9-6fa2-4335-ac39-3465dcc3fc37" providerId="ADAL" clId="{9D4CCB3C-3373-4B57-94EB-1A4D6EFCDD9B}" dt="2026-10-26T05:04:55.557" v="172"/>
          <ac:spMkLst>
            <pc:docMk/>
            <pc:sldMk cId="0" sldId="264"/>
            <ac:spMk id="13" creationId="{00000000-0000-0000-0000-000000000000}"/>
          </ac:spMkLst>
        </pc:spChg>
      </pc:sldChg>
      <pc:sldChg chg="del">
        <pc:chgData name="DEBILAL THAKRE, MAITHILI" userId="84081bd9-6fa2-4335-ac39-3465dcc3fc37" providerId="ADAL" clId="{9D4CCB3C-3373-4B57-94EB-1A4D6EFCDD9B}" dt="2026-10-26T03:31:49.784" v="1" actId="2696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C5C67-1702-D847-AD06-9124EBBC1C6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62392-DB25-DB4D-8214-B962E6E5A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0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Ask the audience to think of a time when they noticed a risk but hesitated to speak. Do not ask for names or sensitive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after the two options. Invite 2–3 responses. Emphasise that speaking up is about improving decisions, not proving someone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for a show of hands or a quick chat response. Let the room answer before presenting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four behaviours. Explain that courage without evidence can sound like opinion; evidence without respect can sound like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is fictional/composite. Keep focus on the observable data freshness signal and the value of a short validation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the FACT structure slowly. Invite participants to repeat or adapt the wording to their own work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one pair aloud and ask which version is more likely to be heard. Clarify that respectful language should not dilute urgency when risk is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that speaking up is a two-way responsibility: individuals raise concerns and leaders respond constructively.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Quotation note: The first quotation is biblical. The courage quotation is commonly attributed to Ambrose Redmoon, but attribution is disputed; it is labeled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a practical commitment: each person chooses one phrase they can use in their next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23960" y="-822960"/>
            <a:ext cx="4389120" cy="4389120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137160"/>
            <a:ext cx="2194560" cy="2194560"/>
          </a:xfrm>
          <a:prstGeom prst="ellipse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4434840"/>
            <a:ext cx="1051560" cy="1051560"/>
          </a:xfrm>
          <a:prstGeom prst="ellipse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85800"/>
            <a:ext cx="109728" cy="914400"/>
          </a:xfrm>
          <a:prstGeom prst="rect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713232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 i="0">
                <a:solidFill>
                  <a:srgbClr val="48BECD"/>
                </a:solidFill>
                <a:latin typeface="Aptos"/>
              </a:defRPr>
            </a:pPr>
            <a:r>
              <a:t>CAPGEMINI  |  POST-ASSESSMENT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77724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The Power of</a:t>
            </a:r>
            <a:br>
              <a:rPr dirty="0"/>
            </a:br>
            <a:r>
              <a:rPr dirty="0"/>
              <a:t>Speaking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6858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0" i="0">
                <a:solidFill>
                  <a:srgbClr val="CBF1E9"/>
                </a:solidFill>
                <a:latin typeface="Aptos"/>
              </a:defRPr>
            </a:pPr>
            <a:r>
              <a:rPr dirty="0"/>
              <a:t>Challenging group decisions with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60520"/>
            <a:ext cx="6217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 i="0">
                <a:solidFill>
                  <a:srgbClr val="D2E0E9"/>
                </a:solidFill>
                <a:latin typeface="Aptos"/>
              </a:defRPr>
            </a:pPr>
            <a:r>
              <a:rPr dirty="0"/>
              <a:t>How to disagree respectfully, protect outcomes,</a:t>
            </a:r>
            <a:br>
              <a:rPr dirty="0"/>
            </a:br>
            <a:r>
              <a:rPr dirty="0"/>
              <a:t>and build trust when it matters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C5D3D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C5D3D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94F5F1-1D0D-6E59-DF19-7445F87A112C}"/>
              </a:ext>
            </a:extLst>
          </p:cNvPr>
          <p:cNvSpPr txBox="1"/>
          <p:nvPr/>
        </p:nvSpPr>
        <p:spPr>
          <a:xfrm>
            <a:off x="-718457" y="5365742"/>
            <a:ext cx="6629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Presented by-Maithili </a:t>
            </a:r>
            <a:r>
              <a:rPr lang="en-US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Debilal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 Thakre</a:t>
            </a:r>
            <a:endParaRPr lang="en-US" sz="1600" b="0" i="0" dirty="0">
              <a:solidFill>
                <a:srgbClr val="939393"/>
              </a:solidFill>
              <a:effectLst/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01 / 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Would you speak up if the room had already agreed?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Imagine the decision is popular, the deadline is close, and you see a risk no one has mentioned.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6629400" cy="3200400"/>
          </a:xfrm>
          <a:prstGeom prst="roundRect">
            <a:avLst>
              <a:gd name="adj" fmla="val 12000"/>
            </a:avLst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5897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 i="0">
                <a:solidFill>
                  <a:srgbClr val="48BECD"/>
                </a:solidFill>
                <a:latin typeface="Aptos"/>
              </a:defRPr>
            </a:pPr>
            <a:r>
              <a:t>THE MOMENT OF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58064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“I don’t want to slow us down…</a:t>
            </a:r>
            <a:br/>
            <a:r>
              <a:t>but what if we’re missing something?”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709160"/>
            <a:ext cx="5669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1">
                <a:solidFill>
                  <a:srgbClr val="CBF1E9"/>
                </a:solidFill>
                <a:latin typeface="Aptos"/>
              </a:defRPr>
            </a:pPr>
            <a:r>
              <a:t>Silence feels easier. Speaking up may be safer.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240280"/>
            <a:ext cx="36118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2240280"/>
            <a:ext cx="73152" cy="132588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7848" y="2404872"/>
            <a:ext cx="32461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 i="0">
                <a:solidFill>
                  <a:srgbClr val="11223B"/>
                </a:solidFill>
                <a:latin typeface="Aptos"/>
              </a:defRPr>
            </a:pPr>
            <a:r>
              <a:t>Option A — Stay silent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807208"/>
            <a:ext cx="3227832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Avoid tension now; risk a bigger problem later.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94760"/>
            <a:ext cx="36118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3794760"/>
            <a:ext cx="73152" cy="1325880"/>
          </a:xfrm>
          <a:prstGeom prst="rect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3959352"/>
            <a:ext cx="32461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 i="0">
                <a:solidFill>
                  <a:srgbClr val="11223B"/>
                </a:solidFill>
                <a:latin typeface="Aptos"/>
              </a:defRPr>
            </a:pPr>
            <a:r>
              <a:t>Option B — Raise the concern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361688"/>
            <a:ext cx="3227832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Create a pause for evidence, alternatives and clarity.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48BECD"/>
                </a:solidFill>
                <a:latin typeface="Aptos"/>
              </a:defRPr>
            </a:pPr>
            <a:r>
              <a:t>02 / QUICK AUDIENCE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Three questions before we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0DCE6"/>
                </a:solidFill>
                <a:latin typeface="Aptos"/>
              </a:defRPr>
            </a:pPr>
            <a:r>
              <a:t>No perfect answers — the goal is to notice our default reactions.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2194560"/>
            <a:ext cx="5486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39112"/>
            <a:ext cx="9418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Have you ever agreed publicly while disagreeing privately?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00400"/>
            <a:ext cx="566928" cy="566928"/>
          </a:xfrm>
          <a:prstGeom prst="ellipse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3337560"/>
            <a:ext cx="5486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 i="0">
                <a:solidFill>
                  <a:srgbClr val="11223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82112"/>
            <a:ext cx="9418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What stops people from speaking up: hierarchy, time, fear, or uncertainty?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4480560"/>
            <a:ext cx="5486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325112"/>
            <a:ext cx="9418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What earns more trust: instant agreement or respectful honesty?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C5D3D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C5D3D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03 / 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Speaking up is not the same as being difficult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The aim is not to win an argument. It is to improve the decision.</a:t>
            </a:r>
          </a:p>
        </p:txBody>
      </p:sp>
      <p:sp>
        <p:nvSpPr>
          <p:cNvPr id="5" name="Oval 4"/>
          <p:cNvSpPr/>
          <p:nvPr/>
        </p:nvSpPr>
        <p:spPr>
          <a:xfrm>
            <a:off x="1435607" y="2331720"/>
            <a:ext cx="685800" cy="685800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35607" y="252374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2240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 i="0">
                <a:solidFill>
                  <a:srgbClr val="11223B"/>
                </a:solidFill>
                <a:latin typeface="Aptos"/>
              </a:defRPr>
            </a:pPr>
            <a:r>
              <a:t>Courage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703320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Name the concern instead of hiding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4203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 i="0">
                <a:solidFill>
                  <a:srgbClr val="5E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288536" y="2331720"/>
            <a:ext cx="685800" cy="685800"/>
          </a:xfrm>
          <a:prstGeom prst="ellipse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8536" y="252374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246120"/>
            <a:ext cx="2240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 i="0">
                <a:solidFill>
                  <a:srgbClr val="11223B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Separate facts, assumptions and feelings.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54203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 i="0">
                <a:solidFill>
                  <a:srgbClr val="5E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141464" y="2331720"/>
            <a:ext cx="685800" cy="685800"/>
          </a:xfrm>
          <a:prstGeom prst="ellipse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41464" y="252374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1122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246120"/>
            <a:ext cx="2240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 i="0">
                <a:solidFill>
                  <a:srgbClr val="11223B"/>
                </a:solidFill>
                <a:latin typeface="Aptos"/>
              </a:defRPr>
            </a:pPr>
            <a:r>
              <a:t>Respect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703320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Challenge the idea, not the person.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54203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 i="0">
                <a:solidFill>
                  <a:srgbClr val="5E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994392" y="2331720"/>
            <a:ext cx="685800" cy="685800"/>
          </a:xfrm>
          <a:prstGeom prst="ellipse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94392" y="252374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246120"/>
            <a:ext cx="2240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 i="0">
                <a:solidFill>
                  <a:srgbClr val="11223B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703320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Offer a next step, not just a complaint.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074920"/>
            <a:ext cx="10149840" cy="731520"/>
          </a:xfrm>
          <a:prstGeom prst="roundRect">
            <a:avLst>
              <a:gd name="adj" fmla="val 12000"/>
            </a:avLst>
          </a:prstGeom>
          <a:solidFill>
            <a:srgbClr val="CB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5285232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 i="0">
                <a:solidFill>
                  <a:srgbClr val="11223B"/>
                </a:solidFill>
                <a:latin typeface="Aptos"/>
              </a:defRPr>
            </a:pPr>
            <a:r>
              <a:t>A useful challenge combines candour with care.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04 / A SHORT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The five-minute pause that saved the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A fictional composite scenario inspired by common project-team situations.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880360"/>
            <a:ext cx="9784080" cy="45720"/>
          </a:xfrm>
          <a:prstGeom prst="rect">
            <a:avLst/>
          </a:prstGeom>
          <a:solidFill>
            <a:srgbClr val="E6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2587752"/>
            <a:ext cx="502920" cy="502920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 i="0">
                <a:solidFill>
                  <a:srgbClr val="008F91"/>
                </a:solidFill>
                <a:latin typeface="Aptos"/>
              </a:defRPr>
            </a:pPr>
            <a:r>
              <a:t>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 i="0">
                <a:solidFill>
                  <a:srgbClr val="11223B"/>
                </a:solidFill>
                <a:latin typeface="Aptos"/>
              </a:defRPr>
            </a:pPr>
            <a:r>
              <a:t>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794760"/>
            <a:ext cx="21945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0" i="0">
                <a:solidFill>
                  <a:srgbClr val="5E6D7C"/>
                </a:solidFill>
                <a:latin typeface="Aptos"/>
              </a:defRPr>
            </a:pPr>
            <a:r>
              <a:t>The team agrees to release a dashboard today.</a:t>
            </a:r>
          </a:p>
        </p:txBody>
      </p:sp>
      <p:sp>
        <p:nvSpPr>
          <p:cNvPr id="10" name="Oval 9"/>
          <p:cNvSpPr/>
          <p:nvPr/>
        </p:nvSpPr>
        <p:spPr>
          <a:xfrm>
            <a:off x="3977639" y="2587752"/>
            <a:ext cx="502920" cy="502920"/>
          </a:xfrm>
          <a:prstGeom prst="ellipse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 i="0">
                <a:solidFill>
                  <a:srgbClr val="F1B543"/>
                </a:solidFill>
                <a:latin typeface="Aptos"/>
              </a:defRPr>
            </a:pPr>
            <a:r>
              <a:t>09:12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59" y="333756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 i="0">
                <a:solidFill>
                  <a:srgbClr val="11223B"/>
                </a:solidFill>
                <a:latin typeface="Aptos"/>
              </a:defRPr>
            </a:pPr>
            <a:r>
              <a:t>The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3794760"/>
            <a:ext cx="21945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0" i="0">
                <a:solidFill>
                  <a:srgbClr val="5E6D7C"/>
                </a:solidFill>
                <a:latin typeface="Aptos"/>
              </a:defRPr>
            </a:pPr>
            <a:r>
              <a:t>An analyst spots that yesterday’s data is incomplete.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587752"/>
            <a:ext cx="502920" cy="502920"/>
          </a:xfrm>
          <a:prstGeom prst="ellipse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 i="0">
                <a:solidFill>
                  <a:srgbClr val="48BECD"/>
                </a:solidFill>
                <a:latin typeface="Aptos"/>
              </a:defRPr>
            </a:pPr>
            <a:r>
              <a:t>09:15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33756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 i="0">
                <a:solidFill>
                  <a:srgbClr val="11223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3794760"/>
            <a:ext cx="21945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0" i="0">
                <a:solidFill>
                  <a:srgbClr val="5E6D7C"/>
                </a:solidFill>
                <a:latin typeface="Aptos"/>
              </a:defRPr>
            </a:pPr>
            <a:r>
              <a:t>They show the missing-load evidence and suggest a check.</a:t>
            </a:r>
          </a:p>
        </p:txBody>
      </p:sp>
      <p:sp>
        <p:nvSpPr>
          <p:cNvPr id="18" name="Oval 17"/>
          <p:cNvSpPr/>
          <p:nvPr/>
        </p:nvSpPr>
        <p:spPr>
          <a:xfrm>
            <a:off x="9464040" y="2587752"/>
            <a:ext cx="502920" cy="502920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 i="0">
                <a:solidFill>
                  <a:srgbClr val="008F91"/>
                </a:solidFill>
                <a:latin typeface="Aptos"/>
              </a:defRPr>
            </a:pPr>
            <a:r>
              <a:t>09:20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33756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 i="0">
                <a:solidFill>
                  <a:srgbClr val="11223B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794760"/>
            <a:ext cx="21945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0" i="0">
                <a:solidFill>
                  <a:srgbClr val="5E6D7C"/>
                </a:solidFill>
                <a:latin typeface="Aptos"/>
              </a:defRPr>
            </a:pPr>
            <a:r>
              <a:t>Release pauses; the data issue is fixed before users rely on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257800"/>
            <a:ext cx="10241280" cy="594360"/>
          </a:xfrm>
          <a:prstGeom prst="roundRect">
            <a:avLst>
              <a:gd name="adj" fmla="val 12000"/>
            </a:avLst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422392"/>
            <a:ext cx="9784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The hero wasn’t the loudest person. It was the person who made the risk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06 / A PRACTICAL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Use the “FACT”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A calm, repeatable script for raising concerns without creating a personal confrontation.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93392"/>
            <a:ext cx="566928" cy="566928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 i="0">
                <a:solidFill>
                  <a:srgbClr val="11223B"/>
                </a:solidFill>
                <a:latin typeface="Aptos"/>
              </a:defRPr>
            </a:pPr>
            <a:r>
              <a:t>Frame the shared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84248"/>
            <a:ext cx="71780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“I know we want the review to go smoothly.”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35224"/>
            <a:ext cx="566928" cy="566928"/>
          </a:xfrm>
          <a:prstGeom prst="ellipse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 i="0">
                <a:solidFill>
                  <a:srgbClr val="11223B"/>
                </a:solidFill>
                <a:latin typeface="Aptos"/>
              </a:defRPr>
            </a:pPr>
            <a:r>
              <a:t>Add observable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926080"/>
            <a:ext cx="71780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“The source table hasn’t refreshed since yesterday.”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77056"/>
            <a:ext cx="566928" cy="566928"/>
          </a:xfrm>
          <a:prstGeom prst="ellipse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 i="0">
                <a:solidFill>
                  <a:srgbClr val="11223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6791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 i="0">
                <a:solidFill>
                  <a:srgbClr val="11223B"/>
                </a:solidFill>
                <a:latin typeface="Aptos"/>
              </a:defRPr>
            </a:pPr>
            <a:r>
              <a:t>Clarify the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867912"/>
            <a:ext cx="71780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“That could make today’s figures misleading.”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18888"/>
            <a:ext cx="566928" cy="566928"/>
          </a:xfrm>
          <a:prstGeom prst="ellipse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74336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09744"/>
            <a:ext cx="2240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 i="0">
                <a:solidFill>
                  <a:srgbClr val="11223B"/>
                </a:solidFill>
                <a:latin typeface="Aptos"/>
              </a:defRPr>
            </a:pPr>
            <a:r>
              <a:t>Table a 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809744"/>
            <a:ext cx="71780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“Can we validate the load and label the report if it’s still incomplete?”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06440"/>
            <a:ext cx="10195560" cy="438912"/>
          </a:xfrm>
          <a:prstGeom prst="roundRect">
            <a:avLst>
              <a:gd name="adj" fmla="val 12000"/>
            </a:avLst>
          </a:prstGeom>
          <a:solidFill>
            <a:srgbClr val="CB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5907024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 i="0">
                <a:solidFill>
                  <a:srgbClr val="11223B"/>
                </a:solidFill>
                <a:latin typeface="Aptos"/>
              </a:defRPr>
            </a:pPr>
            <a:r>
              <a:t>Be specific about the risk; be collaborative about the solution.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07 / LANGUAGE THAT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Replace confrontation with constructive candour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Small changes in wording can lower defensiveness without weakening the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438912"/>
          </a:xfrm>
          <a:prstGeom prst="roundRect">
            <a:avLst>
              <a:gd name="adj" fmla="val 12000"/>
            </a:avLst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846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INSTEAD OF…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57400"/>
            <a:ext cx="5212080" cy="438912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157984"/>
            <a:ext cx="4846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TRY…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249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907792"/>
            <a:ext cx="4754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23303F"/>
                </a:solidFill>
                <a:latin typeface="Aptos"/>
              </a:defRPr>
            </a:pPr>
            <a:r>
              <a:t>“This plan is wrong.”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249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90779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 i="0">
                <a:solidFill>
                  <a:srgbClr val="11223B"/>
                </a:solidFill>
                <a:latin typeface="Aptos"/>
              </a:defRPr>
            </a:pPr>
            <a:r>
              <a:t>“Can we test one assumption before we commit?”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393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822191"/>
            <a:ext cx="4754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23303F"/>
                </a:solidFill>
                <a:latin typeface="Aptos"/>
              </a:defRPr>
            </a:pPr>
            <a:r>
              <a:t>“Nobody checked the data.”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393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822191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 i="0">
                <a:solidFill>
                  <a:srgbClr val="11223B"/>
                </a:solidFill>
                <a:latin typeface="Aptos"/>
              </a:defRPr>
            </a:pPr>
            <a:r>
              <a:t>“I’m seeing a gap in validation; let’s verify it.”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537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736592"/>
            <a:ext cx="4754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23303F"/>
                </a:solidFill>
                <a:latin typeface="Aptos"/>
              </a:defRPr>
            </a:pPr>
            <a:r>
              <a:t>“I told you this would happen.”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553712"/>
            <a:ext cx="52120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73659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 i="0">
                <a:solidFill>
                  <a:srgbClr val="11223B"/>
                </a:solidFill>
                <a:latin typeface="Aptos"/>
              </a:defRPr>
            </a:pPr>
            <a:r>
              <a:t>“What can we learn and change for next time?”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008F91"/>
                </a:solidFill>
                <a:latin typeface="Aptos"/>
              </a:defRPr>
            </a:pPr>
            <a:r>
              <a:t>PRINCIPLE: Be direct about the issue and generous about people’s intentions.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008F91"/>
                </a:solidFill>
                <a:latin typeface="Aptos"/>
              </a:defRPr>
            </a:pPr>
            <a:r>
              <a:t>09 / BUILD THE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11223B"/>
                </a:solidFill>
                <a:latin typeface="Aptos"/>
              </a:defRPr>
            </a:pPr>
            <a:r>
              <a:t>Speaking up works best when leaders respond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5E6D7C"/>
                </a:solidFill>
                <a:latin typeface="Aptos"/>
              </a:defRPr>
            </a:pPr>
            <a:r>
              <a:t>Individual courage starts the conversation; team habits determine whether it continues.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33832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73152" cy="2286000"/>
          </a:xfrm>
          <a:prstGeom prst="rect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313432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 i="0">
                <a:solidFill>
                  <a:srgbClr val="11223B"/>
                </a:solidFill>
                <a:latin typeface="Aptos"/>
              </a:defRPr>
            </a:pPr>
            <a:r>
              <a:t>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15768"/>
            <a:ext cx="299923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Thank the person who raises a concern. Ask what evidence would change the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3832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148840"/>
            <a:ext cx="73152" cy="2286000"/>
          </a:xfrm>
          <a:prstGeom prst="rect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313432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 i="0">
                <a:solidFill>
                  <a:srgbClr val="11223B"/>
                </a:solidFill>
                <a:latin typeface="Aptos"/>
              </a:defRPr>
            </a:pPr>
            <a:r>
              <a:t>TEAMMATES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15768"/>
            <a:ext cx="299923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Listen fully. Ask clarifying questions. Don’t punish respectful dissent.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48840"/>
            <a:ext cx="33832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148840"/>
            <a:ext cx="73152" cy="2286000"/>
          </a:xfrm>
          <a:prstGeom prst="rect">
            <a:avLst/>
          </a:prstGeom>
          <a:solidFill>
            <a:srgbClr val="F1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313432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 i="0">
                <a:solidFill>
                  <a:srgbClr val="11223B"/>
                </a:solidFill>
                <a:latin typeface="Aptos"/>
              </a:defRPr>
            </a:pPr>
            <a:r>
              <a:t>EVERYONE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15768"/>
            <a:ext cx="2999232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5E6D7C"/>
                </a:solidFill>
                <a:latin typeface="Aptos"/>
              </a:defRPr>
            </a:pPr>
            <a:r>
              <a:t>Make it normal to run pre-mortems, document risks and revisit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983480"/>
            <a:ext cx="10241280" cy="777240"/>
          </a:xfrm>
          <a:prstGeom prst="roundRect">
            <a:avLst>
              <a:gd name="adj" fmla="val 12000"/>
            </a:avLst>
          </a:prstGeom>
          <a:solidFill>
            <a:srgbClr val="CB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212080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 i="0">
                <a:solidFill>
                  <a:srgbClr val="11223B"/>
                </a:solidFill>
                <a:latin typeface="Aptos"/>
              </a:defRPr>
            </a:pPr>
            <a:r>
              <a:t>Psychological safety does not mean avoiding accountability. It means being able to raise issues without humiliation.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91A0A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91A0A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48BECD"/>
                </a:solidFill>
                <a:latin typeface="Aptos"/>
              </a:defRPr>
            </a:pPr>
            <a:r>
              <a:t>08 / WISDOM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Courage is a team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0DCE6"/>
                </a:solidFill>
                <a:latin typeface="Aptos"/>
              </a:defRPr>
            </a:pPr>
            <a:r>
              <a:t>A good culture makes it safer to surface problems 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400800" cy="2331720"/>
          </a:xfrm>
          <a:prstGeom prst="roundRect">
            <a:avLst>
              <a:gd name="adj" fmla="val 12000"/>
            </a:avLst>
          </a:prstGeom>
          <a:solidFill>
            <a:srgbClr val="1C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“The truth will set you free.”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063240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 i="0">
                <a:solidFill>
                  <a:srgbClr val="48BECD"/>
                </a:solidFill>
                <a:latin typeface="Aptos"/>
              </a:defRPr>
            </a:pPr>
            <a:r>
              <a:t>— John 8:32 (biblical quotation)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703320"/>
            <a:ext cx="5623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 i="0">
                <a:solidFill>
                  <a:srgbClr val="D6E2EA"/>
                </a:solidFill>
                <a:latin typeface="Aptos"/>
              </a:defRPr>
            </a:pPr>
            <a:r>
              <a:t>Truth is useful when it is paired with humility and responsibility.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148840"/>
            <a:ext cx="3749039" cy="2331720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48716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CBF1E9"/>
                </a:solidFill>
                <a:latin typeface="Aptos"/>
              </a:defRPr>
            </a:pPr>
            <a:r>
              <a:t>PROVERB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834640"/>
            <a:ext cx="3063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t>“A stitch in time saves nine.”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886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Small, early fixes prevent bigger failures.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42432"/>
            <a:ext cx="10058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00" b="0" i="0">
                <a:solidFill>
                  <a:srgbClr val="B5C7D3"/>
                </a:solidFill>
                <a:latin typeface="Aptos"/>
              </a:defRPr>
            </a:pPr>
            <a:r>
              <a:t>Commonly attributed to Ambrose Redmoon; attribution is disputed.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C5D3D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C5D3D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457200"/>
            <a:ext cx="3657600" cy="3657600"/>
          </a:xfrm>
          <a:prstGeom prst="ellipse">
            <a:avLst/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914400"/>
            <a:ext cx="1828800" cy="1828800"/>
          </a:xfrm>
          <a:prstGeom prst="ellipse">
            <a:avLst/>
          </a:prstGeom>
          <a:solidFill>
            <a:srgbClr val="48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 i="0">
                <a:solidFill>
                  <a:srgbClr val="48BECD"/>
                </a:solidFill>
                <a:latin typeface="Aptos"/>
              </a:defRPr>
            </a:pPr>
            <a:r>
              <a:t>11 / CLOSE WITH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The next time you disagree…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0DCE6"/>
                </a:solidFill>
                <a:latin typeface="Aptos"/>
              </a:defRPr>
            </a:pPr>
            <a:r>
              <a:t>Make your voice useful, not merely 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 i="0">
                <a:solidFill>
                  <a:srgbClr val="48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834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1DFE8"/>
                </a:solidFill>
                <a:latin typeface="Aptos"/>
              </a:defRPr>
            </a:pPr>
            <a:r>
              <a:t>What is the shared goal?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 i="0">
                <a:solidFill>
                  <a:srgbClr val="48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71800"/>
            <a:ext cx="2834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1DFE8"/>
                </a:solidFill>
                <a:latin typeface="Aptos"/>
              </a:defRPr>
            </a:pPr>
            <a:r>
              <a:t>What do I know, and what needs checking?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 i="0">
                <a:solidFill>
                  <a:srgbClr val="48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71800"/>
            <a:ext cx="2834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2044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 i="0">
                <a:solidFill>
                  <a:srgbClr val="D1DFE8"/>
                </a:solidFill>
                <a:latin typeface="Aptos"/>
              </a:defRPr>
            </a:pPr>
            <a:r>
              <a:t>What is the safest next step?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00600"/>
            <a:ext cx="9966960" cy="822960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010912"/>
            <a:ext cx="9326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“Integrity is doing the right thing, even when it’s not easy.”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52160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 i="0">
                <a:solidFill>
                  <a:srgbClr val="CBF1E9"/>
                </a:solidFill>
                <a:latin typeface="Aptos"/>
              </a:defRPr>
            </a:pPr>
            <a:r>
              <a:t>THANK YOU  •  QUESTIONS /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00" b="1" i="0">
                <a:solidFill>
                  <a:srgbClr val="C5D3DE"/>
                </a:solidFill>
                <a:latin typeface="Aptos"/>
              </a:defRPr>
            </a:pPr>
            <a:r>
              <a:t>SPEAKING UP WITH INTEGRITY  •  POST-ASSESSMENT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 i="0">
                <a:solidFill>
                  <a:srgbClr val="C5D3D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1098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DEBILAL THAKRE, MAITHILI</cp:lastModifiedBy>
  <cp:revision>3</cp:revision>
  <dcterms:created xsi:type="dcterms:W3CDTF">2013-01-27T09:14:16Z</dcterms:created>
  <dcterms:modified xsi:type="dcterms:W3CDTF">2026-10-26T06:34:44Z</dcterms:modified>
  <cp:category/>
</cp:coreProperties>
</file>